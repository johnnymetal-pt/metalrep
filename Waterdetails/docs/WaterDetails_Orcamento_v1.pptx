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F97215-7E6D-4BA9-8CBC-BD678572F360}" v="11" dt="2026-05-20T15:52:53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117D4FD-4D35-10CC-C438-13AD5381193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482600"/>
            <a:ext cx="3175000" cy="6985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1909FE2-B92C-5F68-1E4F-317EA709F9A8}"/>
              </a:ext>
            </a:extLst>
          </p:cNvPr>
          <p:cNvSpPr txBox="1"/>
          <p:nvPr/>
        </p:nvSpPr>
        <p:spPr>
          <a:xfrm>
            <a:off x="635000" y="1943100"/>
            <a:ext cx="787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400" dirty="0">
                <a:solidFill>
                  <a:srgbClr val="009FE3"/>
                </a:solidFill>
                <a:latin typeface="Aptos" panose="020B0004020202020204" pitchFamily="34" charset="0"/>
              </a:rPr>
              <a:t>Orçamento de Implementação Odoo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BE3A952-6FE8-AA11-1550-EC882D84A91F}"/>
              </a:ext>
            </a:extLst>
          </p:cNvPr>
          <p:cNvSpPr txBox="1"/>
          <p:nvPr/>
        </p:nvSpPr>
        <p:spPr>
          <a:xfrm>
            <a:off x="635000" y="25019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Virgin Details, Lda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74C3A83-F4E0-44A1-3DDB-625811E30ABF}"/>
              </a:ext>
            </a:extLst>
          </p:cNvPr>
          <p:cNvSpPr txBox="1"/>
          <p:nvPr/>
        </p:nvSpPr>
        <p:spPr>
          <a:xfrm>
            <a:off x="635000" y="3175000"/>
            <a:ext cx="79375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300">
                <a:solidFill>
                  <a:srgbClr val="111827"/>
                </a:solidFill>
                <a:latin typeface="Aptos" panose="020B0004020202020204" pitchFamily="34" charset="0"/>
              </a:rPr>
              <a:t>Proposta de implementação Odoo Enterprise — Fase 1: Faturação. Cobrindo configuração inicial, localização PT (l10n_pt), vendas, faturação certificada AT e migração de dados PHC GO.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356315-63A0-E8D9-3412-7988504BB544}"/>
              </a:ext>
            </a:extLst>
          </p:cNvPr>
          <p:cNvSpPr txBox="1"/>
          <p:nvPr/>
        </p:nvSpPr>
        <p:spPr>
          <a:xfrm>
            <a:off x="838200" y="4368800"/>
            <a:ext cx="241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5 400 €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34697A9-326A-AC2C-EC00-F7D532434CFC}"/>
              </a:ext>
            </a:extLst>
          </p:cNvPr>
          <p:cNvSpPr txBox="1"/>
          <p:nvPr/>
        </p:nvSpPr>
        <p:spPr>
          <a:xfrm>
            <a:off x="838200" y="4813300"/>
            <a:ext cx="2413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Serviços Fase 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DD9B43C-B81F-D087-F813-E4ECCEE14065}"/>
              </a:ext>
            </a:extLst>
          </p:cNvPr>
          <p:cNvSpPr txBox="1"/>
          <p:nvPr/>
        </p:nvSpPr>
        <p:spPr>
          <a:xfrm>
            <a:off x="3683000" y="4368800"/>
            <a:ext cx="2032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7 752 €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C01401-8781-4AF5-3B1C-5A6F2205D563}"/>
              </a:ext>
            </a:extLst>
          </p:cNvPr>
          <p:cNvSpPr txBox="1"/>
          <p:nvPr/>
        </p:nvSpPr>
        <p:spPr>
          <a:xfrm>
            <a:off x="3683000" y="4813300"/>
            <a:ext cx="2032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Total 1.º ano s/IVA ⚠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DB2D81F-374E-5953-A631-8BDBEA6B495E}"/>
              </a:ext>
            </a:extLst>
          </p:cNvPr>
          <p:cNvSpPr txBox="1"/>
          <p:nvPr/>
        </p:nvSpPr>
        <p:spPr>
          <a:xfrm>
            <a:off x="6350000" y="4368800"/>
            <a:ext cx="2159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5 340 €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CA993F1-DB2F-33D2-06A2-8613480F03D3}"/>
              </a:ext>
            </a:extLst>
          </p:cNvPr>
          <p:cNvSpPr txBox="1"/>
          <p:nvPr/>
        </p:nvSpPr>
        <p:spPr>
          <a:xfrm>
            <a:off x="6350000" y="4813300"/>
            <a:ext cx="215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Recorrência anual ⚠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CFE78DE-A08E-2553-C009-5CD9EF6B0E7C}"/>
              </a:ext>
            </a:extLst>
          </p:cNvPr>
          <p:cNvSpPr txBox="1"/>
          <p:nvPr/>
        </p:nvSpPr>
        <p:spPr>
          <a:xfrm>
            <a:off x="635000" y="5867400"/>
            <a:ext cx="660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>
                <a:solidFill>
                  <a:srgbClr val="64748B"/>
                </a:solidFill>
                <a:latin typeface="Aptos" panose="020B0004020202020204" pitchFamily="34" charset="0"/>
              </a:rPr>
              <a:t>Versão 1.0 · 25/05/2026 · válido até 20/06/2026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6180C74-8BB8-226F-8544-6105962CD121}"/>
              </a:ext>
            </a:extLst>
          </p:cNvPr>
          <p:cNvSpPr txBox="1"/>
          <p:nvPr/>
        </p:nvSpPr>
        <p:spPr>
          <a:xfrm>
            <a:off x="635000" y="62230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111827"/>
                </a:solidFill>
                <a:latin typeface="Aptos" panose="020B0004020202020204" pitchFamily="34" charset="0"/>
              </a:rPr>
              <a:t>Preparado por Parâmetro Global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937016B-C259-F8B2-1FAD-1AEFA604F1A6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35752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283F6C6-7EA6-2DAA-ECD8-5A2F0C42665C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1. Resumo executivo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CB8ACA-C857-6B51-F9F7-B4A4E72AB80A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O que está incluído e qual a decisão financeira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59A0340-913F-E7DD-6CED-EC98FE469A9E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60F81BD-9D23-DDF5-73C2-269AB94FD4F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15B52D2-A56F-A89F-DF00-F48F44E05641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4764108-4459-EC7D-8974-B388FEC0EC22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DD27997-C2DA-4C3E-4B48-8929D653B6B2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66DC108-FE55-C5C8-F60C-06940228DA1F}"/>
              </a:ext>
            </a:extLst>
          </p:cNvPr>
          <p:cNvSpPr txBox="1"/>
          <p:nvPr/>
        </p:nvSpPr>
        <p:spPr>
          <a:xfrm>
            <a:off x="1016000" y="1549400"/>
            <a:ext cx="2286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00" b="1">
                <a:solidFill>
                  <a:srgbClr val="009FE3"/>
                </a:solidFill>
                <a:latin typeface="Aptos" panose="020B0004020202020204" pitchFamily="34" charset="0"/>
              </a:rPr>
              <a:t>RESULTADO PROPOSTO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724918A-927C-201E-1613-2291C87277B5}"/>
              </a:ext>
            </a:extLst>
          </p:cNvPr>
          <p:cNvSpPr txBox="1"/>
          <p:nvPr/>
        </p:nvSpPr>
        <p:spPr>
          <a:xfrm>
            <a:off x="1016000" y="1854200"/>
            <a:ext cx="5334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500">
                <a:solidFill>
                  <a:srgbClr val="111827"/>
                </a:solidFill>
                <a:latin typeface="Aptos" panose="020B0004020202020204" pitchFamily="34" charset="0"/>
              </a:rPr>
              <a:t>Implementação Odoo Enterprise (saas~19.3) — Fase 1: Faturação. Cobre configuração inicial, localização PT (l10n_pt), contactos, vendas, faturação certificada AT, financeiro e migração de dados PHC GO. 5 utilizadores, arranque em ~6 semanas.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770D060-7990-A7E9-6F97-B9BAD06A5F93}"/>
              </a:ext>
            </a:extLst>
          </p:cNvPr>
          <p:cNvSpPr txBox="1"/>
          <p:nvPr/>
        </p:nvSpPr>
        <p:spPr>
          <a:xfrm>
            <a:off x="1117600" y="32385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 dirty="0">
                <a:solidFill>
                  <a:srgbClr val="009FE3"/>
                </a:solidFill>
                <a:latin typeface="Aptos" panose="020B0004020202020204" pitchFamily="34" charset="0"/>
              </a:rPr>
              <a:t>5 400 €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6E104EC-86EE-E6A4-098C-C0A3B1DB04BC}"/>
              </a:ext>
            </a:extLst>
          </p:cNvPr>
          <p:cNvSpPr txBox="1"/>
          <p:nvPr/>
        </p:nvSpPr>
        <p:spPr>
          <a:xfrm>
            <a:off x="1117600" y="3683000"/>
            <a:ext cx="190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Serviços Fase 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23846E9-318B-5E3A-E9CD-3EAB68A834A5}"/>
              </a:ext>
            </a:extLst>
          </p:cNvPr>
          <p:cNvSpPr txBox="1"/>
          <p:nvPr/>
        </p:nvSpPr>
        <p:spPr>
          <a:xfrm>
            <a:off x="3365500" y="32385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7 752 €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0262B7F-976C-F19D-E6DB-49E4475556A4}"/>
              </a:ext>
            </a:extLst>
          </p:cNvPr>
          <p:cNvSpPr txBox="1"/>
          <p:nvPr/>
        </p:nvSpPr>
        <p:spPr>
          <a:xfrm>
            <a:off x="3365500" y="3683000"/>
            <a:ext cx="190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Total 1.º ano s/IVA ⚠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190C55A-EDFA-7C6E-0869-1E91AE36E036}"/>
              </a:ext>
            </a:extLst>
          </p:cNvPr>
          <p:cNvSpPr txBox="1"/>
          <p:nvPr/>
        </p:nvSpPr>
        <p:spPr>
          <a:xfrm>
            <a:off x="5613400" y="3238500"/>
            <a:ext cx="1651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2200" b="1">
                <a:solidFill>
                  <a:srgbClr val="009FE3"/>
                </a:solidFill>
                <a:latin typeface="Aptos" panose="020B0004020202020204" pitchFamily="34" charset="0"/>
              </a:rPr>
              <a:t>5 340 €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6E92664-A02D-16C3-117C-7F8B57B7B614}"/>
              </a:ext>
            </a:extLst>
          </p:cNvPr>
          <p:cNvSpPr txBox="1"/>
          <p:nvPr/>
        </p:nvSpPr>
        <p:spPr>
          <a:xfrm>
            <a:off x="5613400" y="3683000"/>
            <a:ext cx="1651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Recorrência anual ⚠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21205F2-8447-E519-F29A-EE23C9AD6222}"/>
              </a:ext>
            </a:extLst>
          </p:cNvPr>
          <p:cNvSpPr/>
          <p:nvPr/>
        </p:nvSpPr>
        <p:spPr>
          <a:xfrm>
            <a:off x="7366000" y="1587500"/>
            <a:ext cx="3810000" cy="2623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075FA7F-7A24-6352-9497-CC9A1A4E3128}"/>
              </a:ext>
            </a:extLst>
          </p:cNvPr>
          <p:cNvSpPr txBox="1"/>
          <p:nvPr/>
        </p:nvSpPr>
        <p:spPr>
          <a:xfrm>
            <a:off x="7645400" y="1841500"/>
            <a:ext cx="279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100" b="1">
                <a:solidFill>
                  <a:srgbClr val="111827"/>
                </a:solidFill>
                <a:latin typeface="Aptos" panose="020B0004020202020204" pitchFamily="34" charset="0"/>
              </a:rPr>
              <a:t>Decisão financeira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EF7BAE0-D174-7A75-87F3-ED445CC1F719}"/>
              </a:ext>
            </a:extLst>
          </p:cNvPr>
          <p:cNvSpPr txBox="1"/>
          <p:nvPr/>
        </p:nvSpPr>
        <p:spPr>
          <a:xfrm>
            <a:off x="7645400" y="2235200"/>
            <a:ext cx="292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500" b="1" dirty="0">
                <a:solidFill>
                  <a:srgbClr val="009FE3"/>
                </a:solidFill>
                <a:latin typeface="Aptos" panose="020B0004020202020204" pitchFamily="34" charset="0"/>
              </a:rPr>
              <a:t>Total 1.º ano: 7 752 € s/IVA ⚠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04276B2-45DC-19D7-4204-92F25A76593F}"/>
              </a:ext>
            </a:extLst>
          </p:cNvPr>
          <p:cNvSpPr txBox="1"/>
          <p:nvPr/>
        </p:nvSpPr>
        <p:spPr>
          <a:xfrm>
            <a:off x="7645400" y="2667000"/>
            <a:ext cx="2921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100">
                <a:solidFill>
                  <a:srgbClr val="111827"/>
                </a:solidFill>
                <a:latin typeface="Aptos" panose="020B0004020202020204" pitchFamily="34" charset="0"/>
              </a:rPr>
              <a:t>Recorrência: 5 340 €/ano s/IVA ⚠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CEC8485-2DDA-428F-7DE9-392911B8CF51}"/>
              </a:ext>
            </a:extLst>
          </p:cNvPr>
          <p:cNvSpPr txBox="1"/>
          <p:nvPr/>
        </p:nvSpPr>
        <p:spPr>
          <a:xfrm>
            <a:off x="7645400" y="3048000"/>
            <a:ext cx="2921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dirty="0">
                <a:solidFill>
                  <a:srgbClr val="64748B"/>
                </a:solidFill>
                <a:latin typeface="Aptos" panose="020B0004020202020204" pitchFamily="34" charset="0"/>
              </a:rPr>
              <a:t>⚠ Licenciamento Odoo (1 824 €) + plugin AT (528 €): valores placeholder — confirmar Stefano Biglieri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978FBBE-A107-12D7-420F-670A27CA129C}"/>
              </a:ext>
            </a:extLst>
          </p:cNvPr>
          <p:cNvSpPr/>
          <p:nvPr/>
        </p:nvSpPr>
        <p:spPr>
          <a:xfrm>
            <a:off x="10160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48B0C0E-621D-C81A-F4C5-BE986E7DAAB1}"/>
              </a:ext>
            </a:extLst>
          </p:cNvPr>
          <p:cNvSpPr/>
          <p:nvPr/>
        </p:nvSpPr>
        <p:spPr>
          <a:xfrm>
            <a:off x="11176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9848215-B5DA-039A-F161-F3E6C50E3962}"/>
              </a:ext>
            </a:extLst>
          </p:cNvPr>
          <p:cNvSpPr txBox="1"/>
          <p:nvPr/>
        </p:nvSpPr>
        <p:spPr>
          <a:xfrm>
            <a:off x="11811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21A3FBB-53C1-18C4-6FE1-5B6B94746418}"/>
              </a:ext>
            </a:extLst>
          </p:cNvPr>
          <p:cNvSpPr txBox="1"/>
          <p:nvPr/>
        </p:nvSpPr>
        <p:spPr>
          <a:xfrm>
            <a:off x="14732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Aprovar orçamento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E3D334CA-1A39-D980-0ADD-4A145DE990B6}"/>
              </a:ext>
            </a:extLst>
          </p:cNvPr>
          <p:cNvSpPr/>
          <p:nvPr/>
        </p:nvSpPr>
        <p:spPr>
          <a:xfrm>
            <a:off x="29845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ED9EB90-26B2-9F2D-3B56-9CCFF2C33094}"/>
              </a:ext>
            </a:extLst>
          </p:cNvPr>
          <p:cNvSpPr/>
          <p:nvPr/>
        </p:nvSpPr>
        <p:spPr>
          <a:xfrm>
            <a:off x="30861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6697C4E-D95B-A999-A26F-7C4A389ECA4F}"/>
              </a:ext>
            </a:extLst>
          </p:cNvPr>
          <p:cNvSpPr txBox="1"/>
          <p:nvPr/>
        </p:nvSpPr>
        <p:spPr>
          <a:xfrm>
            <a:off x="31496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8DCD98B-081A-93D6-6F71-B140DD8DA632}"/>
              </a:ext>
            </a:extLst>
          </p:cNvPr>
          <p:cNvSpPr txBox="1"/>
          <p:nvPr/>
        </p:nvSpPr>
        <p:spPr>
          <a:xfrm>
            <a:off x="34417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Nomear SPOC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003134C0-E8D5-253A-4E83-84D781CA70ED}"/>
              </a:ext>
            </a:extLst>
          </p:cNvPr>
          <p:cNvSpPr/>
          <p:nvPr/>
        </p:nvSpPr>
        <p:spPr>
          <a:xfrm>
            <a:off x="49530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8837D89-67CB-4FD7-1BF1-87A839EF2A2C}"/>
              </a:ext>
            </a:extLst>
          </p:cNvPr>
          <p:cNvSpPr/>
          <p:nvPr/>
        </p:nvSpPr>
        <p:spPr>
          <a:xfrm>
            <a:off x="50546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9EDCFA2-5CE6-4840-8EE0-0A7DF68BF96B}"/>
              </a:ext>
            </a:extLst>
          </p:cNvPr>
          <p:cNvSpPr txBox="1"/>
          <p:nvPr/>
        </p:nvSpPr>
        <p:spPr>
          <a:xfrm>
            <a:off x="51181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12D8DCF-FD5E-8D74-1BC4-F9730F330146}"/>
              </a:ext>
            </a:extLst>
          </p:cNvPr>
          <p:cNvSpPr txBox="1"/>
          <p:nvPr/>
        </p:nvSpPr>
        <p:spPr>
          <a:xfrm>
            <a:off x="54102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Validar dados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D16FB450-6342-F412-B66C-4F7FAE7A32DC}"/>
              </a:ext>
            </a:extLst>
          </p:cNvPr>
          <p:cNvSpPr/>
          <p:nvPr/>
        </p:nvSpPr>
        <p:spPr>
          <a:xfrm>
            <a:off x="69215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32675D6-4185-2031-4201-B98475E260B5}"/>
              </a:ext>
            </a:extLst>
          </p:cNvPr>
          <p:cNvSpPr/>
          <p:nvPr/>
        </p:nvSpPr>
        <p:spPr>
          <a:xfrm>
            <a:off x="70231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F6DE328-89FD-7AB0-AB16-4142B2F70FCB}"/>
              </a:ext>
            </a:extLst>
          </p:cNvPr>
          <p:cNvSpPr txBox="1"/>
          <p:nvPr/>
        </p:nvSpPr>
        <p:spPr>
          <a:xfrm>
            <a:off x="70866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6509A03-DE01-1647-3F14-383D4476094B}"/>
              </a:ext>
            </a:extLst>
          </p:cNvPr>
          <p:cNvSpPr txBox="1"/>
          <p:nvPr/>
        </p:nvSpPr>
        <p:spPr>
          <a:xfrm>
            <a:off x="73787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Kick-off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DBFDE884-D051-3878-82B7-B1C0935B58C4}"/>
              </a:ext>
            </a:extLst>
          </p:cNvPr>
          <p:cNvSpPr/>
          <p:nvPr/>
        </p:nvSpPr>
        <p:spPr>
          <a:xfrm>
            <a:off x="8890000" y="4902200"/>
            <a:ext cx="1778000" cy="6604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860AC10-5066-095D-1722-C9507F4E05E4}"/>
              </a:ext>
            </a:extLst>
          </p:cNvPr>
          <p:cNvSpPr/>
          <p:nvPr/>
        </p:nvSpPr>
        <p:spPr>
          <a:xfrm>
            <a:off x="8991600" y="5003800"/>
            <a:ext cx="228600" cy="2286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1FD8EDE-667B-7FA1-DF23-59BCE69768D8}"/>
              </a:ext>
            </a:extLst>
          </p:cNvPr>
          <p:cNvSpPr txBox="1"/>
          <p:nvPr/>
        </p:nvSpPr>
        <p:spPr>
          <a:xfrm>
            <a:off x="9055100" y="5054600"/>
            <a:ext cx="101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7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0BDBFF5-14C5-BA86-4C44-2354F22F9779}"/>
              </a:ext>
            </a:extLst>
          </p:cNvPr>
          <p:cNvSpPr txBox="1"/>
          <p:nvPr/>
        </p:nvSpPr>
        <p:spPr>
          <a:xfrm>
            <a:off x="9347200" y="5168900"/>
            <a:ext cx="1193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00" b="1">
                <a:solidFill>
                  <a:srgbClr val="111827"/>
                </a:solidFill>
                <a:latin typeface="Aptos" panose="020B0004020202020204" pitchFamily="34" charset="0"/>
              </a:rPr>
              <a:t>Fit-gap</a:t>
            </a:r>
          </a:p>
        </p:txBody>
      </p:sp>
    </p:spTree>
    <p:extLst>
      <p:ext uri="{BB962C8B-B14F-4D97-AF65-F5344CB8AC3E}">
        <p14:creationId xmlns:p14="http://schemas.microsoft.com/office/powerpoint/2010/main" val="4006363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4C02F3-13F7-B04B-E467-F5B458FCB0AA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2. Âmbito incluído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647790-B035-796A-3B22-8242083055B9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Módulos e entregas da Fase 1 — Faturação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9E65F85-FBD1-49C2-7941-71794F9255AC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7AEF2B2-AC4D-77C4-F1D7-4B4BCDB0A1A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608C031-763E-1F45-21AC-9521A5C9080B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440275-DF30-3F04-216C-B18BE33C5A6E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9EB05F9-6332-F7FD-30E3-11C576F4396A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5FBD55E-58AD-817B-BE42-53F8095F36F8}"/>
              </a:ext>
            </a:extLst>
          </p:cNvPr>
          <p:cNvSpPr/>
          <p:nvPr/>
        </p:nvSpPr>
        <p:spPr>
          <a:xfrm>
            <a:off x="1066800" y="15240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80CBFBD-40B2-A234-9C8C-F8A8414B81B5}"/>
              </a:ext>
            </a:extLst>
          </p:cNvPr>
          <p:cNvSpPr txBox="1"/>
          <p:nvPr/>
        </p:nvSpPr>
        <p:spPr>
          <a:xfrm>
            <a:off x="1168400" y="1574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Base Odoo + l10n_pt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71F00F9-DBA5-9E25-9991-DA8471C65D2F}"/>
              </a:ext>
            </a:extLst>
          </p:cNvPr>
          <p:cNvSpPr txBox="1"/>
          <p:nvPr/>
        </p:nvSpPr>
        <p:spPr>
          <a:xfrm>
            <a:off x="3111500" y="15367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Odoo Enterprise saas~19.3. Localização PT (l10n_pt), SAF-T, configuração inicial (5 utilizadores, grupos de acesso, e-mail).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82B2554-0B15-3BA7-CB14-02B0E684623D}"/>
              </a:ext>
            </a:extLst>
          </p:cNvPr>
          <p:cNvSpPr/>
          <p:nvPr/>
        </p:nvSpPr>
        <p:spPr>
          <a:xfrm>
            <a:off x="1066800" y="21336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45C7729-A9C1-8DBE-8323-70E29972EE45}"/>
              </a:ext>
            </a:extLst>
          </p:cNvPr>
          <p:cNvSpPr txBox="1"/>
          <p:nvPr/>
        </p:nvSpPr>
        <p:spPr>
          <a:xfrm>
            <a:off x="1168400" y="2184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Contactos e Produtos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7AFE10C-5BB0-A3EC-9670-2BBEEE68198B}"/>
              </a:ext>
            </a:extLst>
          </p:cNvPr>
          <p:cNvSpPr txBox="1"/>
          <p:nvPr/>
        </p:nvSpPr>
        <p:spPr>
          <a:xfrm>
            <a:off x="3111500" y="21463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Clientes, fornecedores, produtos e serviços. Importação a partir de PHC GO e Excel.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8A3983C-A9DA-AB9E-5AF4-48FC1D7232BC}"/>
              </a:ext>
            </a:extLst>
          </p:cNvPr>
          <p:cNvSpPr/>
          <p:nvPr/>
        </p:nvSpPr>
        <p:spPr>
          <a:xfrm>
            <a:off x="1066800" y="27432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6C39EE2-9B39-3EFA-4EEB-68F67155B730}"/>
              </a:ext>
            </a:extLst>
          </p:cNvPr>
          <p:cNvSpPr txBox="1"/>
          <p:nvPr/>
        </p:nvSpPr>
        <p:spPr>
          <a:xfrm>
            <a:off x="1168400" y="2794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Vendas e Faturação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11DCD4B-D444-A89D-02A5-3ACEE59C9DF1}"/>
              </a:ext>
            </a:extLst>
          </p:cNvPr>
          <p:cNvSpPr txBox="1"/>
          <p:nvPr/>
        </p:nvSpPr>
        <p:spPr>
          <a:xfrm>
            <a:off x="3111500" y="27559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Orçamentos, encomendas, faturas, notas de crédito e faturação certificada AT.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6053F40-6381-37C4-D170-349F9CA62E34}"/>
              </a:ext>
            </a:extLst>
          </p:cNvPr>
          <p:cNvSpPr/>
          <p:nvPr/>
        </p:nvSpPr>
        <p:spPr>
          <a:xfrm>
            <a:off x="1066800" y="33528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E238D39-9088-4CD7-74A1-929B929B8B75}"/>
              </a:ext>
            </a:extLst>
          </p:cNvPr>
          <p:cNvSpPr txBox="1"/>
          <p:nvPr/>
        </p:nvSpPr>
        <p:spPr>
          <a:xfrm>
            <a:off x="1168400" y="3403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Financeiro l10n_pt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83BD90A-5567-04F9-116B-B0820071EAEC}"/>
              </a:ext>
            </a:extLst>
          </p:cNvPr>
          <p:cNvSpPr txBox="1"/>
          <p:nvPr/>
        </p:nvSpPr>
        <p:spPr>
          <a:xfrm>
            <a:off x="3111500" y="33655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Plano de contas PT, IVA, SAF-T, plugin AT, condições de pagamento e reconciliação bancária.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5F60C8D-6195-0374-B989-EFC5CA35F7DC}"/>
              </a:ext>
            </a:extLst>
          </p:cNvPr>
          <p:cNvSpPr/>
          <p:nvPr/>
        </p:nvSpPr>
        <p:spPr>
          <a:xfrm>
            <a:off x="1066800" y="39624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BC76FB6-D5C7-958B-9CFA-37A3524E65D8}"/>
              </a:ext>
            </a:extLst>
          </p:cNvPr>
          <p:cNvSpPr txBox="1"/>
          <p:nvPr/>
        </p:nvSpPr>
        <p:spPr>
          <a:xfrm>
            <a:off x="1168400" y="4013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Migração PHC GO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71E6D79-1C7F-04E5-1F3B-4248497ADF5F}"/>
              </a:ext>
            </a:extLst>
          </p:cNvPr>
          <p:cNvSpPr txBox="1"/>
          <p:nvPr/>
        </p:nvSpPr>
        <p:spPr>
          <a:xfrm>
            <a:off x="3111500" y="39751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Importação de produtos, clientes e saldos em aberto a partir de PHC GO.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6F7BE69-4C9E-897E-161C-BDCB4A4A11CC}"/>
              </a:ext>
            </a:extLst>
          </p:cNvPr>
          <p:cNvSpPr/>
          <p:nvPr/>
        </p:nvSpPr>
        <p:spPr>
          <a:xfrm>
            <a:off x="7772400" y="1676400"/>
            <a:ext cx="3022600" cy="12700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4C00127-C5EB-D003-763B-7CC4E55DD621}"/>
              </a:ext>
            </a:extLst>
          </p:cNvPr>
          <p:cNvSpPr/>
          <p:nvPr/>
        </p:nvSpPr>
        <p:spPr>
          <a:xfrm>
            <a:off x="7772400" y="1676400"/>
            <a:ext cx="76200" cy="12700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900358B-701B-5098-2EC7-738AF141E174}"/>
              </a:ext>
            </a:extLst>
          </p:cNvPr>
          <p:cNvSpPr txBox="1"/>
          <p:nvPr/>
        </p:nvSpPr>
        <p:spPr>
          <a:xfrm>
            <a:off x="8001000" y="1828800"/>
            <a:ext cx="26162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009FE3"/>
                </a:solidFill>
                <a:latin typeface="Aptos" panose="020B0004020202020204" pitchFamily="34" charset="0"/>
              </a:rPr>
              <a:t>Nota de âmbito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2B8D0ED-BD8A-BCD8-ED6A-C550D0F83424}"/>
              </a:ext>
            </a:extLst>
          </p:cNvPr>
          <p:cNvSpPr txBox="1"/>
          <p:nvPr/>
        </p:nvSpPr>
        <p:spPr>
          <a:xfrm>
            <a:off x="8001000" y="2082800"/>
            <a:ext cx="2616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CRM, Compras, Inventário e Logística são Fase 2 (Operação Comercial). Migração Pipedrive é Fase 2.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7B2659D6-0853-5260-F849-05941879BE76}"/>
              </a:ext>
            </a:extLst>
          </p:cNvPr>
          <p:cNvSpPr/>
          <p:nvPr/>
        </p:nvSpPr>
        <p:spPr>
          <a:xfrm>
            <a:off x="7772400" y="3238500"/>
            <a:ext cx="3022600" cy="14605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8F0AB73-7C14-9C45-195A-854DD152A2AF}"/>
              </a:ext>
            </a:extLst>
          </p:cNvPr>
          <p:cNvSpPr/>
          <p:nvPr/>
        </p:nvSpPr>
        <p:spPr>
          <a:xfrm>
            <a:off x="7772400" y="3238500"/>
            <a:ext cx="76200" cy="1460500"/>
          </a:xfrm>
          <a:prstGeom prst="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1598C46-C39B-966D-A8B1-1804BD69C05D}"/>
              </a:ext>
            </a:extLst>
          </p:cNvPr>
          <p:cNvSpPr txBox="1"/>
          <p:nvPr/>
        </p:nvSpPr>
        <p:spPr>
          <a:xfrm>
            <a:off x="8001000" y="3390900"/>
            <a:ext cx="26162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F97316"/>
                </a:solidFill>
                <a:latin typeface="Aptos" panose="020B0004020202020204" pitchFamily="34" charset="0"/>
              </a:rPr>
              <a:t>Risco controlado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0864197-7DAE-FA2F-F534-E9C927B7511D}"/>
              </a:ext>
            </a:extLst>
          </p:cNvPr>
          <p:cNvSpPr txBox="1"/>
          <p:nvPr/>
        </p:nvSpPr>
        <p:spPr>
          <a:xfrm>
            <a:off x="8001000" y="3644900"/>
            <a:ext cx="26162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CRM, Pipedrive, Compras, Inventário e Logística excluídos da Fase 1. Expansão (BoM, Multiempresa, Analítica) reservada para Fase 3.</a:t>
            </a:r>
          </a:p>
        </p:txBody>
      </p:sp>
    </p:spTree>
    <p:extLst>
      <p:ext uri="{BB962C8B-B14F-4D97-AF65-F5344CB8AC3E}">
        <p14:creationId xmlns:p14="http://schemas.microsoft.com/office/powerpoint/2010/main" val="1131864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720F4B-D5A3-9172-992B-A2AD72E98E58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3. Investimento Odoo principal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0530B3-3578-4FF0-2FEB-B4D8006A9BB4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Serviços, software e recorrência — Fase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BBC1093-6C5C-1E2D-ADE1-3D0B9557042C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D5520A3-0C37-B3A5-0F74-A40CAF3FBB0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AE912A8-4898-20E7-621E-9A38088F3FFA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BE62F4-B923-F3CF-DB15-CF07ED2F01B1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BC2D552-0B33-055A-D180-CD9292DED555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E09729B-C6A1-0575-9863-5589B7C85CF0}"/>
              </a:ext>
            </a:extLst>
          </p:cNvPr>
          <p:cNvSpPr/>
          <p:nvPr/>
        </p:nvSpPr>
        <p:spPr>
          <a:xfrm>
            <a:off x="1066800" y="15494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8A45F9B-DB92-B482-9D93-19CEB27AE78F}"/>
              </a:ext>
            </a:extLst>
          </p:cNvPr>
          <p:cNvSpPr txBox="1"/>
          <p:nvPr/>
        </p:nvSpPr>
        <p:spPr>
          <a:xfrm>
            <a:off x="1168400" y="1600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Serviços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E10184-04E0-2764-7B60-986A6658C569}"/>
              </a:ext>
            </a:extLst>
          </p:cNvPr>
          <p:cNvSpPr txBox="1"/>
          <p:nvPr/>
        </p:nvSpPr>
        <p:spPr>
          <a:xfrm>
            <a:off x="3111500" y="15621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5.400 € · 80h / 10 dias estimados em ~6 semanas.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A012FAE-D6BB-28A7-BCE2-D6A4731EE1A8}"/>
              </a:ext>
            </a:extLst>
          </p:cNvPr>
          <p:cNvSpPr/>
          <p:nvPr/>
        </p:nvSpPr>
        <p:spPr>
          <a:xfrm>
            <a:off x="1066800" y="22098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7EC9FDB-B745-52DD-00FD-AEFD5835DD7D}"/>
              </a:ext>
            </a:extLst>
          </p:cNvPr>
          <p:cNvSpPr txBox="1"/>
          <p:nvPr/>
        </p:nvSpPr>
        <p:spPr>
          <a:xfrm>
            <a:off x="1168400" y="2260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Licenciamento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3C5F308-ECD2-483C-DEB4-E100AFD8057D}"/>
              </a:ext>
            </a:extLst>
          </p:cNvPr>
          <p:cNvSpPr txBox="1"/>
          <p:nvPr/>
        </p:nvSpPr>
        <p:spPr>
          <a:xfrm>
            <a:off x="3111500" y="22225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1.824 € no 1.º ano · 2.280 €/ano recorrente ⚠ · valores placeholder — confirmar c/ Stefano Biglieri.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CC70866-B585-2AF5-788E-655DB86161FF}"/>
              </a:ext>
            </a:extLst>
          </p:cNvPr>
          <p:cNvSpPr/>
          <p:nvPr/>
        </p:nvSpPr>
        <p:spPr>
          <a:xfrm>
            <a:off x="1066800" y="28702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9C49E06-3328-B2D4-2155-118B628F7823}"/>
              </a:ext>
            </a:extLst>
          </p:cNvPr>
          <p:cNvSpPr txBox="1"/>
          <p:nvPr/>
        </p:nvSpPr>
        <p:spPr>
          <a:xfrm>
            <a:off x="1168400" y="2921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Plugin AT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8B78319-9647-30BE-6C3F-84B992309A13}"/>
              </a:ext>
            </a:extLst>
          </p:cNvPr>
          <p:cNvSpPr txBox="1"/>
          <p:nvPr/>
        </p:nvSpPr>
        <p:spPr>
          <a:xfrm>
            <a:off x="3111500" y="28829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528 € no 1.º ano · 660 €/ano recorrente ⚠ · valor placeholder — confirmar c/ Stefano Biglieri.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38C5C65-A795-81C6-D762-A4F49FED54E1}"/>
              </a:ext>
            </a:extLst>
          </p:cNvPr>
          <p:cNvSpPr/>
          <p:nvPr/>
        </p:nvSpPr>
        <p:spPr>
          <a:xfrm>
            <a:off x="1066800" y="35306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4E50A22-923C-6A7D-0F0A-3EA6D9C11186}"/>
              </a:ext>
            </a:extLst>
          </p:cNvPr>
          <p:cNvSpPr txBox="1"/>
          <p:nvPr/>
        </p:nvSpPr>
        <p:spPr>
          <a:xfrm>
            <a:off x="1168400" y="3581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Suporte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1ADFDC0-975C-1BEA-CC25-F219F6ED916D}"/>
              </a:ext>
            </a:extLst>
          </p:cNvPr>
          <p:cNvSpPr txBox="1"/>
          <p:nvPr/>
        </p:nvSpPr>
        <p:spPr>
          <a:xfrm>
            <a:off x="3111500" y="35433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2.400 €/ano em contrato separado pós go-live.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79B23CC-DB7F-7A35-B79A-295AD4D74CFC}"/>
              </a:ext>
            </a:extLst>
          </p:cNvPr>
          <p:cNvSpPr/>
          <p:nvPr/>
        </p:nvSpPr>
        <p:spPr>
          <a:xfrm>
            <a:off x="1066800" y="4191000"/>
            <a:ext cx="1854200" cy="228600"/>
          </a:xfrm>
          <a:prstGeom prst="round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66A91E1-6D7A-E631-2EFA-DCB1B377F530}"/>
              </a:ext>
            </a:extLst>
          </p:cNvPr>
          <p:cNvSpPr txBox="1"/>
          <p:nvPr/>
        </p:nvSpPr>
        <p:spPr>
          <a:xfrm>
            <a:off x="1168400" y="4241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Total Fase 1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358CB59-8AC4-992C-AAC5-AC64D45FDD44}"/>
              </a:ext>
            </a:extLst>
          </p:cNvPr>
          <p:cNvSpPr txBox="1"/>
          <p:nvPr/>
        </p:nvSpPr>
        <p:spPr>
          <a:xfrm>
            <a:off x="3111500" y="42037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>
                <a:solidFill>
                  <a:srgbClr val="111827"/>
                </a:solidFill>
                <a:latin typeface="Aptos" panose="020B0004020202020204" pitchFamily="34" charset="0"/>
              </a:rPr>
              <a:t>7.752 € no 1.º ano · 5.340 €/ano recorrente ⚠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386B59D-28A2-991F-745B-CA808982F112}"/>
              </a:ext>
            </a:extLst>
          </p:cNvPr>
          <p:cNvSpPr/>
          <p:nvPr/>
        </p:nvSpPr>
        <p:spPr>
          <a:xfrm>
            <a:off x="8255000" y="2006600"/>
            <a:ext cx="2794000" cy="15240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8382A18-B26C-0DDC-8C3E-3AC9B54C3D7B}"/>
              </a:ext>
            </a:extLst>
          </p:cNvPr>
          <p:cNvSpPr/>
          <p:nvPr/>
        </p:nvSpPr>
        <p:spPr>
          <a:xfrm>
            <a:off x="8255000" y="2006600"/>
            <a:ext cx="76200" cy="15240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F797015-E89D-C63A-EC08-397B4C7C18E6}"/>
              </a:ext>
            </a:extLst>
          </p:cNvPr>
          <p:cNvSpPr txBox="1"/>
          <p:nvPr/>
        </p:nvSpPr>
        <p:spPr>
          <a:xfrm>
            <a:off x="8483600" y="2159000"/>
            <a:ext cx="23876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009FE3"/>
                </a:solidFill>
                <a:latin typeface="Aptos" panose="020B0004020202020204" pitchFamily="34" charset="0"/>
              </a:rPr>
              <a:t>Nota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6043C80-61FB-AE32-96F2-FBF63B2936FE}"/>
              </a:ext>
            </a:extLst>
          </p:cNvPr>
          <p:cNvSpPr txBox="1"/>
          <p:nvPr/>
        </p:nvSpPr>
        <p:spPr>
          <a:xfrm>
            <a:off x="8483600" y="2413000"/>
            <a:ext cx="23876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⚠ Licenciamento Odoo + plugin AT: valores placeholder — confirmar Stefano Biglieri. Valores s/IVA.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6AB64F9-BF94-933F-FF44-C9F1F20B7992}"/>
              </a:ext>
            </a:extLst>
          </p:cNvPr>
          <p:cNvSpPr/>
          <p:nvPr/>
        </p:nvSpPr>
        <p:spPr>
          <a:xfrm>
            <a:off x="1219200" y="5334000"/>
            <a:ext cx="9271000" cy="482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0D500B3-9B2A-1CF3-7616-A5C07D4030BC}"/>
              </a:ext>
            </a:extLst>
          </p:cNvPr>
          <p:cNvSpPr txBox="1"/>
          <p:nvPr/>
        </p:nvSpPr>
        <p:spPr>
          <a:xfrm>
            <a:off x="1549400" y="5499100"/>
            <a:ext cx="86360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1050" b="1">
                <a:solidFill>
                  <a:srgbClr val="FFFFFF"/>
                </a:solidFill>
                <a:latin typeface="Aptos" panose="020B0004020202020204" pitchFamily="34" charset="0"/>
              </a:rPr>
              <a:t>Serviços Fase 1: 5.400 € · Total 1.º ano: 7.752 € s/IVA ⚠</a:t>
            </a:r>
          </a:p>
        </p:txBody>
      </p:sp>
    </p:spTree>
    <p:extLst>
      <p:ext uri="{BB962C8B-B14F-4D97-AF65-F5344CB8AC3E}">
        <p14:creationId xmlns:p14="http://schemas.microsoft.com/office/powerpoint/2010/main" val="392473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71B5258-8B92-489B-7B11-2DFE8BD22AD6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4. Fases Seguintes — Operação e Expansão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3B98A7-C492-D434-6A34-31691D4284AD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 dirty="0">
                <a:solidFill>
                  <a:srgbClr val="64748B"/>
                </a:solidFill>
                <a:latin typeface="Aptos" panose="020B0004020202020204" pitchFamily="34" charset="0"/>
              </a:rPr>
              <a:t>Valores indicativos · a confirmar após go-live Fase 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447FB52-F7F1-8647-DD78-BE73123A9632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435F32-CD53-2B1E-8675-A49A02EEF11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3054FAD-7C33-83E7-DB29-6B0C6FA500C5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487F4C-4994-5EF4-49AF-41D4D6276736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B4D7AA6-E8D5-D45A-B99E-95EC7EF721B2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A25ACE0-B538-D9A0-D4C8-C5713413B4E7}"/>
              </a:ext>
            </a:extLst>
          </p:cNvPr>
          <p:cNvSpPr/>
          <p:nvPr/>
        </p:nvSpPr>
        <p:spPr>
          <a:xfrm>
            <a:off x="1066800" y="15494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1084612-13FB-FFB7-3671-488F6D28DB45}"/>
              </a:ext>
            </a:extLst>
          </p:cNvPr>
          <p:cNvSpPr txBox="1"/>
          <p:nvPr/>
        </p:nvSpPr>
        <p:spPr>
          <a:xfrm>
            <a:off x="1168400" y="1600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Fase 2 — Operação Comercial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A2732C-1617-0A20-919D-42AF2BF1A1ED}"/>
              </a:ext>
            </a:extLst>
          </p:cNvPr>
          <p:cNvSpPr txBox="1"/>
          <p:nvPr/>
        </p:nvSpPr>
        <p:spPr>
          <a:xfrm>
            <a:off x="3111500" y="15621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 dirty="0" err="1">
                <a:solidFill>
                  <a:srgbClr val="111827"/>
                </a:solidFill>
                <a:latin typeface="Aptos" panose="020B0004020202020204" pitchFamily="34" charset="0"/>
              </a:rPr>
              <a:t>4.360 € · 8 dias · CRM, Pipedrive [POR VALIDAR], Compras, Inventário.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368AA67-91EA-E9CD-2CBE-A3E112DBF716}"/>
              </a:ext>
            </a:extLst>
          </p:cNvPr>
          <p:cNvSpPr/>
          <p:nvPr/>
        </p:nvSpPr>
        <p:spPr>
          <a:xfrm>
            <a:off x="1066800" y="22098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B7A45A7-855E-DEBC-48FC-B91E4B7F8DF2}"/>
              </a:ext>
            </a:extLst>
          </p:cNvPr>
          <p:cNvSpPr txBox="1"/>
          <p:nvPr/>
        </p:nvSpPr>
        <p:spPr>
          <a:xfrm>
            <a:off x="1168400" y="2260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Fase 3 — Expansão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936B4D7-14D1-B220-79E7-6D1F6725149D}"/>
              </a:ext>
            </a:extLst>
          </p:cNvPr>
          <p:cNvSpPr txBox="1"/>
          <p:nvPr/>
        </p:nvSpPr>
        <p:spPr>
          <a:xfrm>
            <a:off x="3111500" y="22225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4.680 € · 9 dias [POR VALIDAR] · BoM, Multiempresa (Starplast SRLE), Analítica.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279925A-4810-EF4C-4BC9-0E2517DDEB9F}"/>
              </a:ext>
            </a:extLst>
          </p:cNvPr>
          <p:cNvSpPr/>
          <p:nvPr/>
        </p:nvSpPr>
        <p:spPr>
          <a:xfrm>
            <a:off x="1066800" y="28702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FAD0F9E-86B4-D808-6848-22E86A194A2F}"/>
              </a:ext>
            </a:extLst>
          </p:cNvPr>
          <p:cNvSpPr txBox="1"/>
          <p:nvPr/>
        </p:nvSpPr>
        <p:spPr>
          <a:xfrm>
            <a:off x="1168400" y="2921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Módulos Adicionais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242D052-90C8-BFC2-282A-5A29D9ADF2B9}"/>
              </a:ext>
            </a:extLst>
          </p:cNvPr>
          <p:cNvSpPr txBox="1"/>
          <p:nvPr/>
        </p:nvSpPr>
        <p:spPr>
          <a:xfrm>
            <a:off x="3111500" y="28829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[POR VALIDAR] · Sign, Barcode, Documents, Helpdesk.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771D8AC-00E0-CE0C-75A8-C0D9744E3C5F}"/>
              </a:ext>
            </a:extLst>
          </p:cNvPr>
          <p:cNvSpPr/>
          <p:nvPr/>
        </p:nvSpPr>
        <p:spPr>
          <a:xfrm>
            <a:off x="1066800" y="35306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2EFF69B-567D-96FF-9EB7-3CEDA57C68BF}"/>
              </a:ext>
            </a:extLst>
          </p:cNvPr>
          <p:cNvSpPr txBox="1"/>
          <p:nvPr/>
        </p:nvSpPr>
        <p:spPr>
          <a:xfrm>
            <a:off x="1168400" y="3581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Total estimado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729F973-AAF5-1340-1CD7-8A966773EC83}"/>
              </a:ext>
            </a:extLst>
          </p:cNvPr>
          <p:cNvSpPr txBox="1"/>
          <p:nvPr/>
        </p:nvSpPr>
        <p:spPr>
          <a:xfrm>
            <a:off x="3111500" y="35433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~9.040 € s/IVA (excl. módulos adicionais [POR VALIDAR])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14049BC-B7BE-DC47-B84E-227724DD1E1C}"/>
              </a:ext>
            </a:extLst>
          </p:cNvPr>
          <p:cNvSpPr/>
          <p:nvPr/>
        </p:nvSpPr>
        <p:spPr>
          <a:xfrm>
            <a:off x="1066800" y="4191000"/>
            <a:ext cx="1854200" cy="228600"/>
          </a:xfrm>
          <a:prstGeom prst="round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95F1BEA-B753-A05F-8FB0-769A1AC9731F}"/>
              </a:ext>
            </a:extLst>
          </p:cNvPr>
          <p:cNvSpPr txBox="1"/>
          <p:nvPr/>
        </p:nvSpPr>
        <p:spPr>
          <a:xfrm>
            <a:off x="1168400" y="4241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Nota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BF0CADB-90CC-2914-AE49-D663F37E36B3}"/>
              </a:ext>
            </a:extLst>
          </p:cNvPr>
          <p:cNvSpPr txBox="1"/>
          <p:nvPr/>
        </p:nvSpPr>
        <p:spPr>
          <a:xfrm>
            <a:off x="3111500" y="4203700"/>
            <a:ext cx="4318000" cy="1569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Início de cada fase após aceite e go-live da fase anterior. Valores s/IVA.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4225CC2-B2E2-9E16-0E5B-ABC3C159BA33}"/>
              </a:ext>
            </a:extLst>
          </p:cNvPr>
          <p:cNvSpPr/>
          <p:nvPr/>
        </p:nvSpPr>
        <p:spPr>
          <a:xfrm>
            <a:off x="8255000" y="1905000"/>
            <a:ext cx="2794000" cy="1651000"/>
          </a:xfrm>
          <a:prstGeom prst="roundRect">
            <a:avLst/>
          </a:prstGeom>
          <a:solidFill>
            <a:srgbClr val="F4FAFE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E711E2D-A78E-7563-F75E-08C31C25DBA8}"/>
              </a:ext>
            </a:extLst>
          </p:cNvPr>
          <p:cNvSpPr/>
          <p:nvPr/>
        </p:nvSpPr>
        <p:spPr>
          <a:xfrm>
            <a:off x="8255000" y="1905000"/>
            <a:ext cx="76200" cy="16510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AC0B89C-83D2-1584-A023-0303405ADAE9}"/>
              </a:ext>
            </a:extLst>
          </p:cNvPr>
          <p:cNvSpPr txBox="1"/>
          <p:nvPr/>
        </p:nvSpPr>
        <p:spPr>
          <a:xfrm>
            <a:off x="8483600" y="2057400"/>
            <a:ext cx="23876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009FE3"/>
                </a:solidFill>
                <a:latin typeface="Aptos" panose="020B0004020202020204" pitchFamily="34" charset="0"/>
              </a:rPr>
              <a:t>Arranque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38E67A3-545C-3467-206D-E0DE1AD29CB8}"/>
              </a:ext>
            </a:extLst>
          </p:cNvPr>
          <p:cNvSpPr txBox="1"/>
          <p:nvPr/>
        </p:nvSpPr>
        <p:spPr>
          <a:xfrm>
            <a:off x="8483600" y="2311400"/>
            <a:ext cx="23876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00">
                <a:solidFill>
                  <a:srgbClr val="111827"/>
                </a:solidFill>
                <a:latin typeface="Aptos" panose="020B0004020202020204" pitchFamily="34" charset="0"/>
              </a:rPr>
              <a:t>Fase 1 (Faturação) → go-live → Fase 2 (Operação) → go-live → Fase 3 (Expansão).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D9D640A-5923-B74C-C647-B823CFB0E428}"/>
              </a:ext>
            </a:extLst>
          </p:cNvPr>
          <p:cNvSpPr txBox="1"/>
          <p:nvPr/>
        </p:nvSpPr>
        <p:spPr>
          <a:xfrm>
            <a:off x="914400" y="4902200"/>
            <a:ext cx="6604000" cy="1354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80">
                <a:solidFill>
                  <a:srgbClr val="64748B"/>
                </a:solidFill>
                <a:latin typeface="Aptos" panose="020B0004020202020204" pitchFamily="34" charset="0"/>
              </a:rPr>
              <a:t>Cada fase tem orçamento e proposta própria.</a:t>
            </a:r>
          </a:p>
        </p:txBody>
      </p:sp>
    </p:spTree>
    <p:extLst>
      <p:ext uri="{BB962C8B-B14F-4D97-AF65-F5344CB8AC3E}">
        <p14:creationId xmlns:p14="http://schemas.microsoft.com/office/powerpoint/2010/main" val="1551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416283B-A198-F591-19FC-C4D34BD36AB1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5. Plano de trabalho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FC2A6E-4805-4FE7-5680-0BC7AFC6BC85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6 semanas (Fase 1 — 10 dias)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2899392-CAD9-342A-67CF-75395C3C4455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E0E2346-CC34-C160-E0BD-FA613B8A7E2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143483F-AAFC-6A9F-6060-61547F638776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7E7494-18DB-CF3C-87AB-6C6FB663D1DC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B3DEF3-E517-1566-8C12-661FADB9B6AC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07D7F1A-EEB3-1B1B-5FE7-5F950D38151D}"/>
              </a:ext>
            </a:extLst>
          </p:cNvPr>
          <p:cNvSpPr txBox="1"/>
          <p:nvPr/>
        </p:nvSpPr>
        <p:spPr>
          <a:xfrm>
            <a:off x="35306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2B82902-1BEB-95E8-4805-6C57F92ABD4C}"/>
              </a:ext>
            </a:extLst>
          </p:cNvPr>
          <p:cNvSpPr/>
          <p:nvPr/>
        </p:nvSpPr>
        <p:spPr>
          <a:xfrm>
            <a:off x="35306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069FE35-1783-93AD-FD73-B1CCD54C68DF}"/>
              </a:ext>
            </a:extLst>
          </p:cNvPr>
          <p:cNvSpPr txBox="1"/>
          <p:nvPr/>
        </p:nvSpPr>
        <p:spPr>
          <a:xfrm>
            <a:off x="42164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E523C51-092D-ECCD-FB0B-E49C1F3FDED3}"/>
              </a:ext>
            </a:extLst>
          </p:cNvPr>
          <p:cNvSpPr/>
          <p:nvPr/>
        </p:nvSpPr>
        <p:spPr>
          <a:xfrm>
            <a:off x="42164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9C42608-96C7-1878-C57C-4F8DA9F3E12C}"/>
              </a:ext>
            </a:extLst>
          </p:cNvPr>
          <p:cNvSpPr txBox="1"/>
          <p:nvPr/>
        </p:nvSpPr>
        <p:spPr>
          <a:xfrm>
            <a:off x="49022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9B76A2F-EBDE-9840-E3DE-553EFA83C584}"/>
              </a:ext>
            </a:extLst>
          </p:cNvPr>
          <p:cNvSpPr/>
          <p:nvPr/>
        </p:nvSpPr>
        <p:spPr>
          <a:xfrm>
            <a:off x="49022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AEDB843-302D-B31D-7C33-B872EF02E12F}"/>
              </a:ext>
            </a:extLst>
          </p:cNvPr>
          <p:cNvSpPr txBox="1"/>
          <p:nvPr/>
        </p:nvSpPr>
        <p:spPr>
          <a:xfrm>
            <a:off x="55880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A26FEF6-888F-B0F1-1E78-46D1860B449B}"/>
              </a:ext>
            </a:extLst>
          </p:cNvPr>
          <p:cNvSpPr/>
          <p:nvPr/>
        </p:nvSpPr>
        <p:spPr>
          <a:xfrm>
            <a:off x="55880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E47BB1B-C531-9B16-6D9B-20E0A354421D}"/>
              </a:ext>
            </a:extLst>
          </p:cNvPr>
          <p:cNvSpPr txBox="1"/>
          <p:nvPr/>
        </p:nvSpPr>
        <p:spPr>
          <a:xfrm>
            <a:off x="62738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A6C6C34-6EAA-1DFD-9455-4C4DFC5F81D2}"/>
              </a:ext>
            </a:extLst>
          </p:cNvPr>
          <p:cNvSpPr/>
          <p:nvPr/>
        </p:nvSpPr>
        <p:spPr>
          <a:xfrm>
            <a:off x="62738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9E01EEE-11DF-2821-5872-829C93293265}"/>
              </a:ext>
            </a:extLst>
          </p:cNvPr>
          <p:cNvSpPr txBox="1"/>
          <p:nvPr/>
        </p:nvSpPr>
        <p:spPr>
          <a:xfrm>
            <a:off x="69596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755B099-190E-1F45-C82D-615F076E71A8}"/>
              </a:ext>
            </a:extLst>
          </p:cNvPr>
          <p:cNvSpPr/>
          <p:nvPr/>
        </p:nvSpPr>
        <p:spPr>
          <a:xfrm>
            <a:off x="69596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D72366B-5C39-23A0-4237-C432F8236DEE}"/>
              </a:ext>
            </a:extLst>
          </p:cNvPr>
          <p:cNvSpPr txBox="1"/>
          <p:nvPr/>
        </p:nvSpPr>
        <p:spPr>
          <a:xfrm>
            <a:off x="76454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S7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7532AF8-B98B-9EF0-955E-BE099DEADD73}"/>
              </a:ext>
            </a:extLst>
          </p:cNvPr>
          <p:cNvSpPr/>
          <p:nvPr/>
        </p:nvSpPr>
        <p:spPr>
          <a:xfrm>
            <a:off x="76454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0FA47DC-B1B1-CD7B-BBEA-B1248CE5025F}"/>
              </a:ext>
            </a:extLst>
          </p:cNvPr>
          <p:cNvSpPr txBox="1"/>
          <p:nvPr/>
        </p:nvSpPr>
        <p:spPr>
          <a:xfrm>
            <a:off x="83312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S8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E8FCD25-1D0C-2629-AF68-C034B7D727F5}"/>
              </a:ext>
            </a:extLst>
          </p:cNvPr>
          <p:cNvSpPr/>
          <p:nvPr/>
        </p:nvSpPr>
        <p:spPr>
          <a:xfrm>
            <a:off x="83312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036B608-43F3-183F-DD3E-352854C094CD}"/>
              </a:ext>
            </a:extLst>
          </p:cNvPr>
          <p:cNvSpPr txBox="1"/>
          <p:nvPr/>
        </p:nvSpPr>
        <p:spPr>
          <a:xfrm>
            <a:off x="9017000" y="1600200"/>
            <a:ext cx="6858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00">
                <a:solidFill>
                  <a:srgbClr val="64748B"/>
                </a:solidFill>
                <a:latin typeface="Aptos" panose="020B0004020202020204" pitchFamily="34" charset="0"/>
              </a:rPr>
              <a:t>S9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4D6BDD1-BB6D-D318-1179-7207BD941A55}"/>
              </a:ext>
            </a:extLst>
          </p:cNvPr>
          <p:cNvSpPr/>
          <p:nvPr/>
        </p:nvSpPr>
        <p:spPr>
          <a:xfrm>
            <a:off x="9017000" y="1828800"/>
            <a:ext cx="12700" cy="327660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1673C87-E5B1-9EF8-450F-7A29416C4C00}"/>
              </a:ext>
            </a:extLst>
          </p:cNvPr>
          <p:cNvSpPr txBox="1"/>
          <p:nvPr/>
        </p:nvSpPr>
        <p:spPr>
          <a:xfrm>
            <a:off x="889000" y="1943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Kick-off + Configuração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FC816A3-3CCB-AF40-95BF-D8FCF1A61197}"/>
              </a:ext>
            </a:extLst>
          </p:cNvPr>
          <p:cNvSpPr txBox="1"/>
          <p:nvPr/>
        </p:nvSpPr>
        <p:spPr>
          <a:xfrm>
            <a:off x="2768600" y="1943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1,5d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EBA544F-8587-1422-EE3C-2026A68722DB}"/>
              </a:ext>
            </a:extLst>
          </p:cNvPr>
          <p:cNvSpPr/>
          <p:nvPr/>
        </p:nvSpPr>
        <p:spPr>
          <a:xfrm>
            <a:off x="3530600" y="2006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0EC2AD3-A662-EB61-2940-61605B4986BC}"/>
              </a:ext>
            </a:extLst>
          </p:cNvPr>
          <p:cNvSpPr/>
          <p:nvPr/>
        </p:nvSpPr>
        <p:spPr>
          <a:xfrm>
            <a:off x="3568700" y="1981200"/>
            <a:ext cx="1295400" cy="1778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26B5E48-A890-5497-1932-F3391C498DAA}"/>
              </a:ext>
            </a:extLst>
          </p:cNvPr>
          <p:cNvSpPr txBox="1"/>
          <p:nvPr/>
        </p:nvSpPr>
        <p:spPr>
          <a:xfrm>
            <a:off x="889000" y="2324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Contactos e Produtos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D794752-72D8-4AC1-3C68-9F846D430330}"/>
              </a:ext>
            </a:extLst>
          </p:cNvPr>
          <p:cNvSpPr txBox="1"/>
          <p:nvPr/>
        </p:nvSpPr>
        <p:spPr>
          <a:xfrm>
            <a:off x="2768600" y="2324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1d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C7D99EB0-4556-38A4-B0C6-6BF8202E2392}"/>
              </a:ext>
            </a:extLst>
          </p:cNvPr>
          <p:cNvSpPr/>
          <p:nvPr/>
        </p:nvSpPr>
        <p:spPr>
          <a:xfrm>
            <a:off x="3530600" y="2387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51DD63A-1B5B-15F5-311C-0F1170CD26D7}"/>
              </a:ext>
            </a:extLst>
          </p:cNvPr>
          <p:cNvSpPr/>
          <p:nvPr/>
        </p:nvSpPr>
        <p:spPr>
          <a:xfrm>
            <a:off x="3568700" y="2362200"/>
            <a:ext cx="1981200" cy="177800"/>
          </a:xfrm>
          <a:prstGeom prst="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CB45A75-BCCF-D997-F08E-F545A60451BA}"/>
              </a:ext>
            </a:extLst>
          </p:cNvPr>
          <p:cNvSpPr txBox="1"/>
          <p:nvPr/>
        </p:nvSpPr>
        <p:spPr>
          <a:xfrm>
            <a:off x="889000" y="2705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Vendas e Faturação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2FE043C-EEC0-1C1C-EEBE-F371BC60AC03}"/>
              </a:ext>
            </a:extLst>
          </p:cNvPr>
          <p:cNvSpPr txBox="1"/>
          <p:nvPr/>
        </p:nvSpPr>
        <p:spPr>
          <a:xfrm>
            <a:off x="2768600" y="2705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2d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6FDAAAC0-C079-F87C-4124-8D25FBFEF2D7}"/>
              </a:ext>
            </a:extLst>
          </p:cNvPr>
          <p:cNvSpPr/>
          <p:nvPr/>
        </p:nvSpPr>
        <p:spPr>
          <a:xfrm>
            <a:off x="3530600" y="2768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A64E5C06-6987-22CD-5543-A6AEC96327EF}"/>
              </a:ext>
            </a:extLst>
          </p:cNvPr>
          <p:cNvSpPr/>
          <p:nvPr/>
        </p:nvSpPr>
        <p:spPr>
          <a:xfrm>
            <a:off x="4254500" y="2743200"/>
            <a:ext cx="4038600" cy="177800"/>
          </a:xfrm>
          <a:prstGeom prst="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B0FF838-92FE-D48C-02C2-DF19ACF39916}"/>
              </a:ext>
            </a:extLst>
          </p:cNvPr>
          <p:cNvSpPr txBox="1"/>
          <p:nvPr/>
        </p:nvSpPr>
        <p:spPr>
          <a:xfrm>
            <a:off x="889000" y="3086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Financeiro l10n_pt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D565BD6-1D9D-F88A-1664-6F97DA921DDD}"/>
              </a:ext>
            </a:extLst>
          </p:cNvPr>
          <p:cNvSpPr txBox="1"/>
          <p:nvPr/>
        </p:nvSpPr>
        <p:spPr>
          <a:xfrm>
            <a:off x="2768600" y="3086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2d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A85A9E53-D59D-654B-6472-88E0BCEAD901}"/>
              </a:ext>
            </a:extLst>
          </p:cNvPr>
          <p:cNvSpPr/>
          <p:nvPr/>
        </p:nvSpPr>
        <p:spPr>
          <a:xfrm>
            <a:off x="3530600" y="3149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25A702FA-56D2-1277-87CE-ECA015B736A5}"/>
              </a:ext>
            </a:extLst>
          </p:cNvPr>
          <p:cNvSpPr/>
          <p:nvPr/>
        </p:nvSpPr>
        <p:spPr>
          <a:xfrm>
            <a:off x="5626100" y="3124200"/>
            <a:ext cx="1981200" cy="177800"/>
          </a:xfrm>
          <a:prstGeom prst="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4391A1A-A2F6-AA80-271F-2D023349275A}"/>
              </a:ext>
            </a:extLst>
          </p:cNvPr>
          <p:cNvSpPr txBox="1"/>
          <p:nvPr/>
        </p:nvSpPr>
        <p:spPr>
          <a:xfrm>
            <a:off x="889000" y="3467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Migração PHC GO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84A56BC-40C5-38E2-A954-06C0CB804F27}"/>
              </a:ext>
            </a:extLst>
          </p:cNvPr>
          <p:cNvSpPr txBox="1"/>
          <p:nvPr/>
        </p:nvSpPr>
        <p:spPr>
          <a:xfrm>
            <a:off x="2768600" y="3467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2d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079AFDC2-232F-E0AE-07FA-9C7410122A0A}"/>
              </a:ext>
            </a:extLst>
          </p:cNvPr>
          <p:cNvSpPr/>
          <p:nvPr/>
        </p:nvSpPr>
        <p:spPr>
          <a:xfrm>
            <a:off x="3530600" y="3530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1E0AA3E2-BC57-09CB-2AEC-AB622B389E74}"/>
              </a:ext>
            </a:extLst>
          </p:cNvPr>
          <p:cNvSpPr/>
          <p:nvPr/>
        </p:nvSpPr>
        <p:spPr>
          <a:xfrm>
            <a:off x="6997700" y="3505200"/>
            <a:ext cx="1295400" cy="177800"/>
          </a:xfrm>
          <a:prstGeom prst="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5FCE15F-6C36-9F43-66EA-EEE12D08A2EA}"/>
              </a:ext>
            </a:extLst>
          </p:cNvPr>
          <p:cNvSpPr txBox="1"/>
          <p:nvPr/>
        </p:nvSpPr>
        <p:spPr>
          <a:xfrm>
            <a:off x="889000" y="3848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Testes faturação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98F96FEA-F2BF-2EFC-FAFB-2AF982FD8F97}"/>
              </a:ext>
            </a:extLst>
          </p:cNvPr>
          <p:cNvSpPr txBox="1"/>
          <p:nvPr/>
        </p:nvSpPr>
        <p:spPr>
          <a:xfrm>
            <a:off x="2768600" y="3848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1d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6FAFC283-58B4-3CA2-91F6-48AF16377B66}"/>
              </a:ext>
            </a:extLst>
          </p:cNvPr>
          <p:cNvSpPr/>
          <p:nvPr/>
        </p:nvSpPr>
        <p:spPr>
          <a:xfrm>
            <a:off x="3530600" y="3911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A1BB2345-597E-53B9-D3AC-026DE9883957}"/>
              </a:ext>
            </a:extLst>
          </p:cNvPr>
          <p:cNvSpPr/>
          <p:nvPr/>
        </p:nvSpPr>
        <p:spPr>
          <a:xfrm>
            <a:off x="6997700" y="3886200"/>
            <a:ext cx="1295400" cy="177800"/>
          </a:xfrm>
          <a:prstGeom prst="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A55DC06-1DF1-780D-F490-394682CD1516}"/>
              </a:ext>
            </a:extLst>
          </p:cNvPr>
          <p:cNvSpPr txBox="1"/>
          <p:nvPr/>
        </p:nvSpPr>
        <p:spPr>
          <a:xfrm>
            <a:off x="889000" y="4229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Formação + Arranque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B6EBF79-3494-239B-FEFA-95B20755082F}"/>
              </a:ext>
            </a:extLst>
          </p:cNvPr>
          <p:cNvSpPr txBox="1"/>
          <p:nvPr/>
        </p:nvSpPr>
        <p:spPr>
          <a:xfrm>
            <a:off x="2768600" y="4229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1d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06124419-9BCA-34DA-9E3B-B103C4EF6643}"/>
              </a:ext>
            </a:extLst>
          </p:cNvPr>
          <p:cNvSpPr/>
          <p:nvPr/>
        </p:nvSpPr>
        <p:spPr>
          <a:xfrm>
            <a:off x="3530600" y="4292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A883CCD9-67FF-7AF9-CCBA-216050C694D2}"/>
              </a:ext>
            </a:extLst>
          </p:cNvPr>
          <p:cNvSpPr/>
          <p:nvPr/>
        </p:nvSpPr>
        <p:spPr>
          <a:xfrm>
            <a:off x="7683500" y="4267200"/>
            <a:ext cx="1981200" cy="177800"/>
          </a:xfrm>
          <a:prstGeom prst="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2E517B5F-4B5D-50F3-CDA4-F415953581FC}"/>
              </a:ext>
            </a:extLst>
          </p:cNvPr>
          <p:cNvSpPr txBox="1"/>
          <p:nvPr/>
        </p:nvSpPr>
        <p:spPr>
          <a:xfrm>
            <a:off x="889000" y="4610100"/>
            <a:ext cx="18415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850" b="1">
                <a:solidFill>
                  <a:srgbClr val="111827"/>
                </a:solidFill>
                <a:latin typeface="Aptos" panose="020B0004020202020204" pitchFamily="34" charset="0"/>
              </a:rPr>
              <a:t>Gestão Projeto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FAA2912-641B-EB81-CD13-9BA0E2148C1E}"/>
              </a:ext>
            </a:extLst>
          </p:cNvPr>
          <p:cNvSpPr txBox="1"/>
          <p:nvPr/>
        </p:nvSpPr>
        <p:spPr>
          <a:xfrm>
            <a:off x="2768600" y="4610100"/>
            <a:ext cx="584200" cy="1169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760">
                <a:solidFill>
                  <a:srgbClr val="64748B"/>
                </a:solidFill>
                <a:latin typeface="Aptos" panose="020B0004020202020204" pitchFamily="34" charset="0"/>
              </a:rPr>
              <a:t>2d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0D99B5ED-1891-DCC3-A2B1-2A43DAB788DB}"/>
              </a:ext>
            </a:extLst>
          </p:cNvPr>
          <p:cNvSpPr/>
          <p:nvPr/>
        </p:nvSpPr>
        <p:spPr>
          <a:xfrm>
            <a:off x="3530600" y="4673600"/>
            <a:ext cx="6172200" cy="127000"/>
          </a:xfrm>
          <a:prstGeom prst="rect">
            <a:avLst/>
          </a:prstGeom>
          <a:solidFill>
            <a:srgbClr val="EAF6F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D185382A-868C-17F4-02C3-74C2A8331BCC}"/>
              </a:ext>
            </a:extLst>
          </p:cNvPr>
          <p:cNvSpPr/>
          <p:nvPr/>
        </p:nvSpPr>
        <p:spPr>
          <a:xfrm>
            <a:off x="3568700" y="4648200"/>
            <a:ext cx="5410200" cy="177800"/>
          </a:xfrm>
          <a:prstGeom prst="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80B912B5-A040-6763-FE6F-FA0A0DC46CCA}"/>
              </a:ext>
            </a:extLst>
          </p:cNvPr>
          <p:cNvSpPr/>
          <p:nvPr/>
        </p:nvSpPr>
        <p:spPr>
          <a:xfrm>
            <a:off x="1092200" y="5486400"/>
            <a:ext cx="9652000" cy="482600"/>
          </a:xfrm>
          <a:prstGeom prst="roundRect">
            <a:avLst/>
          </a:prstGeom>
          <a:solidFill>
            <a:srgbClr val="EAF6FD"/>
          </a:solidFill>
          <a:ln w="12700">
            <a:solidFill>
              <a:srgbClr val="D9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D6917DB6-FA40-A4C9-0016-097BE3B254DB}"/>
              </a:ext>
            </a:extLst>
          </p:cNvPr>
          <p:cNvSpPr txBox="1"/>
          <p:nvPr/>
        </p:nvSpPr>
        <p:spPr>
          <a:xfrm>
            <a:off x="1397000" y="5651500"/>
            <a:ext cx="8953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1050" b="1">
                <a:solidFill>
                  <a:srgbClr val="111827"/>
                </a:solidFill>
                <a:latin typeface="Aptos" panose="020B0004020202020204" pitchFamily="34" charset="0"/>
              </a:rPr>
              <a:t>Total Fase 1: 10 dias · ~6 semanas · início 2-3 semanas após assinatura</a:t>
            </a:r>
          </a:p>
        </p:txBody>
      </p:sp>
    </p:spTree>
    <p:extLst>
      <p:ext uri="{BB962C8B-B14F-4D97-AF65-F5344CB8AC3E}">
        <p14:creationId xmlns:p14="http://schemas.microsoft.com/office/powerpoint/2010/main" val="352071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5AF415-9F2D-7D93-6679-EB03F2B2C21B}"/>
              </a:ext>
            </a:extLst>
          </p:cNvPr>
          <p:cNvSpPr txBox="1"/>
          <p:nvPr/>
        </p:nvSpPr>
        <p:spPr>
          <a:xfrm>
            <a:off x="635000" y="546100"/>
            <a:ext cx="8255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2100" b="1">
                <a:solidFill>
                  <a:srgbClr val="111827"/>
                </a:solidFill>
                <a:latin typeface="Aptos" panose="020B0004020202020204" pitchFamily="34" charset="0"/>
              </a:rPr>
              <a:t>6. Pressupostos, exclusões e próximos passos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3CC642-C8BA-2627-D477-243D920764E7}"/>
              </a:ext>
            </a:extLst>
          </p:cNvPr>
          <p:cNvSpPr txBox="1"/>
          <p:nvPr/>
        </p:nvSpPr>
        <p:spPr>
          <a:xfrm>
            <a:off x="635000" y="1016000"/>
            <a:ext cx="8255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750">
                <a:solidFill>
                  <a:srgbClr val="64748B"/>
                </a:solidFill>
                <a:latin typeface="Aptos" panose="020B0004020202020204" pitchFamily="34" charset="0"/>
              </a:rPr>
              <a:t>Condições de aprovação e arranque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DB2D03-2405-D000-C092-EE755914ECCE}"/>
              </a:ext>
            </a:extLst>
          </p:cNvPr>
          <p:cNvSpPr/>
          <p:nvPr/>
        </p:nvSpPr>
        <p:spPr>
          <a:xfrm>
            <a:off x="508000" y="13208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7EAF969-6E68-666B-3388-F306128FD70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600" y="330200"/>
            <a:ext cx="1498600" cy="3302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7BFABCF-44FE-000A-9DDF-9FB2382F74C7}"/>
              </a:ext>
            </a:extLst>
          </p:cNvPr>
          <p:cNvSpPr/>
          <p:nvPr/>
        </p:nvSpPr>
        <p:spPr>
          <a:xfrm>
            <a:off x="508000" y="6426200"/>
            <a:ext cx="11176000" cy="15240"/>
          </a:xfrm>
          <a:prstGeom prst="rect">
            <a:avLst/>
          </a:prstGeom>
          <a:solidFill>
            <a:srgbClr val="D9E5E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7B6F6E3-7130-188C-CB0D-97F73D479A9B}"/>
              </a:ext>
            </a:extLst>
          </p:cNvPr>
          <p:cNvSpPr txBox="1"/>
          <p:nvPr/>
        </p:nvSpPr>
        <p:spPr>
          <a:xfrm>
            <a:off x="508000" y="6553200"/>
            <a:ext cx="2794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650">
                <a:solidFill>
                  <a:srgbClr val="64748B"/>
                </a:solidFill>
                <a:latin typeface="Aptos" panose="020B0004020202020204" pitchFamily="34" charset="0"/>
              </a:rPr>
              <a:t>waterdetails | Odoo 19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209F3FC-B54D-461E-88D1-A419CD13A55D}"/>
              </a:ext>
            </a:extLst>
          </p:cNvPr>
          <p:cNvSpPr txBox="1"/>
          <p:nvPr/>
        </p:nvSpPr>
        <p:spPr>
          <a:xfrm>
            <a:off x="11480800" y="6553200"/>
            <a:ext cx="2286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pt-PT" sz="650" b="1">
                <a:solidFill>
                  <a:srgbClr val="009FE3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8B89777-5A43-7879-9243-DEE42C911E5B}"/>
              </a:ext>
            </a:extLst>
          </p:cNvPr>
          <p:cNvSpPr/>
          <p:nvPr/>
        </p:nvSpPr>
        <p:spPr>
          <a:xfrm>
            <a:off x="1066800" y="1549400"/>
            <a:ext cx="1854200" cy="228600"/>
          </a:xfrm>
          <a:prstGeom prst="roundRect">
            <a:avLst/>
          </a:prstGeom>
          <a:solidFill>
            <a:srgbClr val="009FE3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013AE2A-EB4D-974B-7205-CCED61361CAD}"/>
              </a:ext>
            </a:extLst>
          </p:cNvPr>
          <p:cNvSpPr txBox="1"/>
          <p:nvPr/>
        </p:nvSpPr>
        <p:spPr>
          <a:xfrm>
            <a:off x="1168400" y="16002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Pressupostos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8FFEF3D-9C5C-54E0-DAF1-09619A88AAD3}"/>
              </a:ext>
            </a:extLst>
          </p:cNvPr>
          <p:cNvSpPr txBox="1"/>
          <p:nvPr/>
        </p:nvSpPr>
        <p:spPr>
          <a:xfrm>
            <a:off x="3111500" y="15621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5 utilizadores · Odoo SH cloud · l10n_pt · Fase 1 sem custom · interlocutor disponível 4h/semana.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7B8B45C-7342-E991-C385-706CEFAA87BA}"/>
              </a:ext>
            </a:extLst>
          </p:cNvPr>
          <p:cNvSpPr/>
          <p:nvPr/>
        </p:nvSpPr>
        <p:spPr>
          <a:xfrm>
            <a:off x="1066800" y="2209800"/>
            <a:ext cx="1854200" cy="228600"/>
          </a:xfrm>
          <a:prstGeom prst="roundRect">
            <a:avLst/>
          </a:prstGeom>
          <a:solidFill>
            <a:srgbClr val="16A34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26D2760-3AA6-8950-633B-107E9FFD244E}"/>
              </a:ext>
            </a:extLst>
          </p:cNvPr>
          <p:cNvSpPr txBox="1"/>
          <p:nvPr/>
        </p:nvSpPr>
        <p:spPr>
          <a:xfrm>
            <a:off x="1168400" y="22606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Dados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5D3F22-F935-BB3B-1301-2F77119D7F69}"/>
              </a:ext>
            </a:extLst>
          </p:cNvPr>
          <p:cNvSpPr txBox="1"/>
          <p:nvPr/>
        </p:nvSpPr>
        <p:spPr>
          <a:xfrm>
            <a:off x="3111500" y="22225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Cliente fornece produtos, clientes e saldos em aberto de PHC GO em Excel limpo antes do início da migração.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63ADAB8-D4BE-F7BC-2881-A09E62D8B2FC}"/>
              </a:ext>
            </a:extLst>
          </p:cNvPr>
          <p:cNvSpPr/>
          <p:nvPr/>
        </p:nvSpPr>
        <p:spPr>
          <a:xfrm>
            <a:off x="1066800" y="2870200"/>
            <a:ext cx="1854200" cy="228600"/>
          </a:xfrm>
          <a:prstGeom prst="roundRect">
            <a:avLst/>
          </a:prstGeom>
          <a:solidFill>
            <a:srgbClr val="F9731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227077F-88F8-56B6-D2CC-FC7473C07208}"/>
              </a:ext>
            </a:extLst>
          </p:cNvPr>
          <p:cNvSpPr txBox="1"/>
          <p:nvPr/>
        </p:nvSpPr>
        <p:spPr>
          <a:xfrm>
            <a:off x="1168400" y="29210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Exclusões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562357B-C623-E6AE-2ADF-20932763C4CD}"/>
              </a:ext>
            </a:extLst>
          </p:cNvPr>
          <p:cNvSpPr txBox="1"/>
          <p:nvPr/>
        </p:nvSpPr>
        <p:spPr>
          <a:xfrm>
            <a:off x="3111500" y="28829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CRM, Pipedrive, Compras, Inventário, Logística excluídos da Fase 1. Fase 2 e Fase 3 têm propostas próprias.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E1A80A7-37CE-3F07-8875-06DFA6595E47}"/>
              </a:ext>
            </a:extLst>
          </p:cNvPr>
          <p:cNvSpPr/>
          <p:nvPr/>
        </p:nvSpPr>
        <p:spPr>
          <a:xfrm>
            <a:off x="1066800" y="3530600"/>
            <a:ext cx="1854200" cy="228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D665A33-6AA7-8FBD-159C-40154159C8A9}"/>
              </a:ext>
            </a:extLst>
          </p:cNvPr>
          <p:cNvSpPr txBox="1"/>
          <p:nvPr/>
        </p:nvSpPr>
        <p:spPr>
          <a:xfrm>
            <a:off x="1168400" y="35814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Validação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A3D5069-AFA4-BDEE-C144-25A4DA77DC9A}"/>
              </a:ext>
            </a:extLst>
          </p:cNvPr>
          <p:cNvSpPr txBox="1"/>
          <p:nvPr/>
        </p:nvSpPr>
        <p:spPr>
          <a:xfrm>
            <a:off x="3111500" y="35433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Plugin AT licenciado antes do arranque do módulo financeiro. Licenciamento Odoo confirmar c/ Stefano Biglieri.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9C2A79C-3D90-B742-56D1-6A5D7656D766}"/>
              </a:ext>
            </a:extLst>
          </p:cNvPr>
          <p:cNvSpPr/>
          <p:nvPr/>
        </p:nvSpPr>
        <p:spPr>
          <a:xfrm>
            <a:off x="1066800" y="4191000"/>
            <a:ext cx="1854200" cy="228600"/>
          </a:xfrm>
          <a:prstGeom prst="roundRect">
            <a:avLst/>
          </a:prstGeom>
          <a:solidFill>
            <a:srgbClr val="EF444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9D70720-B1C7-3FA6-2655-8D89FF4369C8}"/>
              </a:ext>
            </a:extLst>
          </p:cNvPr>
          <p:cNvSpPr txBox="1"/>
          <p:nvPr/>
        </p:nvSpPr>
        <p:spPr>
          <a:xfrm>
            <a:off x="1168400" y="4241800"/>
            <a:ext cx="1651000" cy="10002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650" b="1">
                <a:solidFill>
                  <a:srgbClr val="FFFFFF"/>
                </a:solidFill>
                <a:latin typeface="Aptos" panose="020B0004020202020204" pitchFamily="34" charset="0"/>
              </a:rPr>
              <a:t>Aprovação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9F67D41-DBB8-AACA-EAF2-0F9677055AFB}"/>
              </a:ext>
            </a:extLst>
          </p:cNvPr>
          <p:cNvSpPr txBox="1"/>
          <p:nvPr/>
        </p:nvSpPr>
        <p:spPr>
          <a:xfrm>
            <a:off x="3111500" y="4203700"/>
            <a:ext cx="4318000" cy="3139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PT" sz="1020">
                <a:solidFill>
                  <a:srgbClr val="111827"/>
                </a:solidFill>
                <a:latin typeface="Aptos" panose="020B0004020202020204" pitchFamily="34" charset="0"/>
              </a:rPr>
              <a:t>Aprovação até 20/06/2026. Nomeação de SPOC, agenda de levantamento e kick-off.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A55E76D-7F49-0CC5-877E-DD69C4B4438D}"/>
              </a:ext>
            </a:extLst>
          </p:cNvPr>
          <p:cNvSpPr/>
          <p:nvPr/>
        </p:nvSpPr>
        <p:spPr>
          <a:xfrm>
            <a:off x="1219200" y="5334000"/>
            <a:ext cx="9271000" cy="482600"/>
          </a:xfrm>
          <a:prstGeom prst="roundRect">
            <a:avLst/>
          </a:prstGeom>
          <a:solidFill>
            <a:srgbClr val="0D1726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8F82F93-A462-85DF-DC64-C1A39F8B3F80}"/>
              </a:ext>
            </a:extLst>
          </p:cNvPr>
          <p:cNvSpPr txBox="1"/>
          <p:nvPr/>
        </p:nvSpPr>
        <p:spPr>
          <a:xfrm>
            <a:off x="1600200" y="5499100"/>
            <a:ext cx="8572500" cy="1585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1030" b="1">
                <a:solidFill>
                  <a:srgbClr val="FFFFFF"/>
                </a:solidFill>
                <a:latin typeface="Aptos" panose="020B0004020202020204" pitchFamily="34" charset="0"/>
              </a:rPr>
              <a:t>Aprovação → SPOC → dados PHC GO → plugin AT → kick-off → go-live faturação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7BF2B29-6275-7D17-7744-1429C1BE484E}"/>
              </a:ext>
            </a:extLst>
          </p:cNvPr>
          <p:cNvSpPr txBox="1"/>
          <p:nvPr/>
        </p:nvSpPr>
        <p:spPr>
          <a:xfrm>
            <a:off x="3302000" y="6096000"/>
            <a:ext cx="55880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PT" sz="850">
                <a:solidFill>
                  <a:srgbClr val="64748B"/>
                </a:solidFill>
                <a:latin typeface="Aptos" panose="020B0004020202020204" pitchFamily="34" charset="0"/>
              </a:rPr>
              <a:t>Valores apresentados s/IVA e sujeitos aos pressupostos constantes do orçamento Excel.</a:t>
            </a:r>
          </a:p>
        </p:txBody>
      </p:sp>
    </p:spTree>
    <p:extLst>
      <p:ext uri="{BB962C8B-B14F-4D97-AF65-F5344CB8AC3E}">
        <p14:creationId xmlns:p14="http://schemas.microsoft.com/office/powerpoint/2010/main" val="4166364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863</Words>
  <Application>Microsoft Office PowerPoint</Application>
  <PresentationFormat>Ecrã Panorâmico</PresentationFormat>
  <Paragraphs>138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Parâmetro + Pedro Coelho</cp:lastModifiedBy>
  <cp:revision>11</cp:revision>
  <dcterms:created xsi:type="dcterms:W3CDTF">2013-01-27T09:14:16Z</dcterms:created>
  <dcterms:modified xsi:type="dcterms:W3CDTF">2026-05-22T15:59:08Z</dcterms:modified>
  <cp:category/>
</cp:coreProperties>
</file>