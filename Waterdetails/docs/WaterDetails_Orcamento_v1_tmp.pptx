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97215-7E6D-4BA9-8CBC-BD678572F360}" v="11" dt="2026-05-20T15:52:53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17D4FD-4D35-10CC-C438-13AD5381193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82600"/>
            <a:ext cx="3175000" cy="6985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09FE2-B92C-5F68-1E4F-317EA709F9A8}"/>
              </a:ext>
            </a:extLst>
          </p:cNvPr>
          <p:cNvSpPr txBox="1"/>
          <p:nvPr/>
        </p:nvSpPr>
        <p:spPr>
          <a:xfrm>
            <a:off x="635000" y="19431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400" dirty="0">
                <a:solidFill>
                  <a:srgbClr val="009FE3"/>
                </a:solidFill>
                <a:latin typeface="Aptos" panose="020B0004020202020204" pitchFamily="34" charset="0"/>
              </a:rPr>
              <a:t>Orçamento de Implementação Odoo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E3A952-6FE8-AA11-1550-EC882D84A91F}"/>
              </a:ext>
            </a:extLst>
          </p:cNvPr>
          <p:cNvSpPr txBox="1"/>
          <p:nvPr/>
        </p:nvSpPr>
        <p:spPr>
          <a:xfrm>
            <a:off x="635000" y="25019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Virgin Details, Lda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4C3A83-F4E0-44A1-3DDB-625811E30ABF}"/>
              </a:ext>
            </a:extLst>
          </p:cNvPr>
          <p:cNvSpPr txBox="1"/>
          <p:nvPr/>
        </p:nvSpPr>
        <p:spPr>
          <a:xfrm>
            <a:off x="635000" y="3175000"/>
            <a:ext cx="7937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300">
                <a:solidFill>
                  <a:srgbClr val="111827"/>
                </a:solidFill>
                <a:latin typeface="Aptos" panose="020B0004020202020204" pitchFamily="34" charset="0"/>
              </a:rPr>
              <a:t>Proposta de implementação Odoo Enterprise (SH cloud), localização PT (l10n_pt), cobrindo CRM, vendas, compras, inventário, faturação certificada AT e migração de dados (PHC GO, Excel, Pipedrive).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356315-63A0-E8D9-3412-7988504BB544}"/>
              </a:ext>
            </a:extLst>
          </p:cNvPr>
          <p:cNvSpPr txBox="1"/>
          <p:nvPr/>
        </p:nvSpPr>
        <p:spPr>
          <a:xfrm>
            <a:off x="838200" y="4368800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29 dias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4697A9-326A-AC2C-EC00-F7D532434CFC}"/>
              </a:ext>
            </a:extLst>
          </p:cNvPr>
          <p:cNvSpPr txBox="1"/>
          <p:nvPr/>
        </p:nvSpPr>
        <p:spPr>
          <a:xfrm>
            <a:off x="838200" y="4813300"/>
            <a:ext cx="2413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Fase 1 — Core Operacional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D9B43C-B81F-D087-F813-E4ECCEE14065}"/>
              </a:ext>
            </a:extLst>
          </p:cNvPr>
          <p:cNvSpPr txBox="1"/>
          <p:nvPr/>
        </p:nvSpPr>
        <p:spPr>
          <a:xfrm>
            <a:off x="3683000" y="4368800"/>
            <a:ext cx="203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5 util.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C01401-8781-4AF5-3B1C-5A6F2205D563}"/>
              </a:ext>
            </a:extLst>
          </p:cNvPr>
          <p:cNvSpPr txBox="1"/>
          <p:nvPr/>
        </p:nvSpPr>
        <p:spPr>
          <a:xfrm>
            <a:off x="3683000" y="4813300"/>
            <a:ext cx="2032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Utilizadores Odoo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B2D81F-374E-5953-A631-8BDBEA6B495E}"/>
              </a:ext>
            </a:extLst>
          </p:cNvPr>
          <p:cNvSpPr txBox="1"/>
          <p:nvPr/>
        </p:nvSpPr>
        <p:spPr>
          <a:xfrm>
            <a:off x="6350000" y="43688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9 dias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A993F1-DB2F-33D2-06A2-8613480F03D3}"/>
              </a:ext>
            </a:extLst>
          </p:cNvPr>
          <p:cNvSpPr txBox="1"/>
          <p:nvPr/>
        </p:nvSpPr>
        <p:spPr>
          <a:xfrm>
            <a:off x="6350000" y="48133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Fase 2 indicativa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CFE78DE-A08E-2553-C009-5CD9EF6B0E7C}"/>
              </a:ext>
            </a:extLst>
          </p:cNvPr>
          <p:cNvSpPr txBox="1"/>
          <p:nvPr/>
        </p:nvSpPr>
        <p:spPr>
          <a:xfrm>
            <a:off x="635000" y="5867400"/>
            <a:ext cx="660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Versão 1.0 · 20/05/2026 · válido até 20/06/2026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6180C74-8BB8-226F-8544-6105962CD121}"/>
              </a:ext>
            </a:extLst>
          </p:cNvPr>
          <p:cNvSpPr txBox="1"/>
          <p:nvPr/>
        </p:nvSpPr>
        <p:spPr>
          <a:xfrm>
            <a:off x="635000" y="62230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111827"/>
                </a:solidFill>
                <a:latin typeface="Aptos" panose="020B0004020202020204" pitchFamily="34" charset="0"/>
              </a:rPr>
              <a:t>Preparado por Parâmetro Global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937016B-C259-F8B2-1FAD-1AEFA604F1A6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5752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283F6C6-7EA6-2DAA-ECD8-5A2F0C42665C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1. Resumo executivo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CB8ACA-C857-6B51-F9F7-B4A4E72AB80A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O que está incluído e qual a decisão financeira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9A0340-913F-E7DD-6CED-EC98FE469A9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0F81BD-9D23-DDF5-73C2-269AB94FD4F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15B52D2-A56F-A89F-DF00-F48F44E05641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4764108-4459-EC7D-8974-B388FEC0EC22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D27997-C2DA-4C3E-4B48-8929D653B6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6DC108-FE55-C5C8-F60C-06940228DA1F}"/>
              </a:ext>
            </a:extLst>
          </p:cNvPr>
          <p:cNvSpPr txBox="1"/>
          <p:nvPr/>
        </p:nvSpPr>
        <p:spPr>
          <a:xfrm>
            <a:off x="1016000" y="1549400"/>
            <a:ext cx="2286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00" b="1">
                <a:solidFill>
                  <a:srgbClr val="009FE3"/>
                </a:solidFill>
                <a:latin typeface="Aptos" panose="020B0004020202020204" pitchFamily="34" charset="0"/>
              </a:rPr>
              <a:t>RESULTADO PROPOSTO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724918A-927C-201E-1613-2291C87277B5}"/>
              </a:ext>
            </a:extLst>
          </p:cNvPr>
          <p:cNvSpPr txBox="1"/>
          <p:nvPr/>
        </p:nvSpPr>
        <p:spPr>
          <a:xfrm>
            <a:off x="1016000" y="1854200"/>
            <a:ext cx="5334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>
                <a:solidFill>
                  <a:srgbClr val="111827"/>
                </a:solidFill>
                <a:latin typeface="Aptos" panose="020B0004020202020204" pitchFamily="34" charset="0"/>
              </a:rPr>
              <a:t>Implementação Odoo Enterprise (saas~19.3) com localização PT (l10n_pt). Cobre CRM, vendas, compras, inventário, faturação certificada AT e migração de dados (PHC GO, Excel, Pipedrive) para 5 utilizadores da Virgin Details, Lda.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70D060-7990-A7E9-6F97-B9BAD06A5F93}"/>
              </a:ext>
            </a:extLst>
          </p:cNvPr>
          <p:cNvSpPr txBox="1"/>
          <p:nvPr/>
        </p:nvSpPr>
        <p:spPr>
          <a:xfrm>
            <a:off x="11176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 dirty="0">
                <a:solidFill>
                  <a:srgbClr val="009FE3"/>
                </a:solidFill>
                <a:latin typeface="Aptos" panose="020B0004020202020204" pitchFamily="34" charset="0"/>
              </a:rPr>
              <a:t>10 340 €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E104EC-86EE-E6A4-098C-C0A3B1DB04BC}"/>
              </a:ext>
            </a:extLst>
          </p:cNvPr>
          <p:cNvSpPr txBox="1"/>
          <p:nvPr/>
        </p:nvSpPr>
        <p:spPr>
          <a:xfrm>
            <a:off x="11176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 Fase 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3846E9-318B-5E3A-E9CD-3EAB68A834A5}"/>
              </a:ext>
            </a:extLst>
          </p:cNvPr>
          <p:cNvSpPr txBox="1"/>
          <p:nvPr/>
        </p:nvSpPr>
        <p:spPr>
          <a:xfrm>
            <a:off x="33655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12 692 €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262B7F-976C-F19D-E6DB-49E4475556A4}"/>
              </a:ext>
            </a:extLst>
          </p:cNvPr>
          <p:cNvSpPr txBox="1"/>
          <p:nvPr/>
        </p:nvSpPr>
        <p:spPr>
          <a:xfrm>
            <a:off x="33655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Total 1.º ano s/IVA ⚠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90C55A-EDFA-7C6E-0869-1E91AE36E036}"/>
              </a:ext>
            </a:extLst>
          </p:cNvPr>
          <p:cNvSpPr txBox="1"/>
          <p:nvPr/>
        </p:nvSpPr>
        <p:spPr>
          <a:xfrm>
            <a:off x="5613400" y="3238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5 340 €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6E92664-A02D-16C3-117C-7F8B57B7B614}"/>
              </a:ext>
            </a:extLst>
          </p:cNvPr>
          <p:cNvSpPr txBox="1"/>
          <p:nvPr/>
        </p:nvSpPr>
        <p:spPr>
          <a:xfrm>
            <a:off x="5613400" y="3683000"/>
            <a:ext cx="165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Recorrência anual ⚠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21205F2-8447-E519-F29A-EE23C9AD6222}"/>
              </a:ext>
            </a:extLst>
          </p:cNvPr>
          <p:cNvSpPr/>
          <p:nvPr/>
        </p:nvSpPr>
        <p:spPr>
          <a:xfrm>
            <a:off x="7366000" y="1587500"/>
            <a:ext cx="3810000" cy="2623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75FA7F-7A24-6352-9497-CC9A1A4E3128}"/>
              </a:ext>
            </a:extLst>
          </p:cNvPr>
          <p:cNvSpPr txBox="1"/>
          <p:nvPr/>
        </p:nvSpPr>
        <p:spPr>
          <a:xfrm>
            <a:off x="7645400" y="1841500"/>
            <a:ext cx="279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 b="1">
                <a:solidFill>
                  <a:srgbClr val="111827"/>
                </a:solidFill>
                <a:latin typeface="Aptos" panose="020B0004020202020204" pitchFamily="34" charset="0"/>
              </a:rPr>
              <a:t>Decisão financeira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F7BAE0-D174-7A75-87F3-ED445CC1F719}"/>
              </a:ext>
            </a:extLst>
          </p:cNvPr>
          <p:cNvSpPr txBox="1"/>
          <p:nvPr/>
        </p:nvSpPr>
        <p:spPr>
          <a:xfrm>
            <a:off x="7645400" y="2235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 b="1" dirty="0">
                <a:solidFill>
                  <a:srgbClr val="009FE3"/>
                </a:solidFill>
                <a:latin typeface="Aptos" panose="020B0004020202020204" pitchFamily="34" charset="0"/>
              </a:rPr>
              <a:t>Total 1.º ano: 12 692 € s/IVA ⚠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4276B2-45DC-19D7-4204-92F25A76593F}"/>
              </a:ext>
            </a:extLst>
          </p:cNvPr>
          <p:cNvSpPr txBox="1"/>
          <p:nvPr/>
        </p:nvSpPr>
        <p:spPr>
          <a:xfrm>
            <a:off x="7645400" y="2667000"/>
            <a:ext cx="2921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>
                <a:solidFill>
                  <a:srgbClr val="111827"/>
                </a:solidFill>
                <a:latin typeface="Aptos" panose="020B0004020202020204" pitchFamily="34" charset="0"/>
              </a:rPr>
              <a:t>Recorrência: 5 340 €/ano s/IVA ⚠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EC8485-2DDA-428F-7DE9-392911B8CF51}"/>
              </a:ext>
            </a:extLst>
          </p:cNvPr>
          <p:cNvSpPr txBox="1"/>
          <p:nvPr/>
        </p:nvSpPr>
        <p:spPr>
          <a:xfrm>
            <a:off x="7645400" y="3048000"/>
            <a:ext cx="2921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dirty="0">
                <a:solidFill>
                  <a:srgbClr val="64748B"/>
                </a:solidFill>
                <a:latin typeface="Aptos" panose="020B0004020202020204" pitchFamily="34" charset="0"/>
              </a:rPr>
              <a:t>⚠ Software Odoo (1 824 €) + plugin AT (528 €): valores placeholder — confirmar Stefano Biglieri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978FBBE-A107-12D7-420F-670A27CA129C}"/>
              </a:ext>
            </a:extLst>
          </p:cNvPr>
          <p:cNvSpPr/>
          <p:nvPr/>
        </p:nvSpPr>
        <p:spPr>
          <a:xfrm>
            <a:off x="1016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48B0C0E-621D-C81A-F4C5-BE986E7DAAB1}"/>
              </a:ext>
            </a:extLst>
          </p:cNvPr>
          <p:cNvSpPr/>
          <p:nvPr/>
        </p:nvSpPr>
        <p:spPr>
          <a:xfrm>
            <a:off x="1117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9848215-B5DA-039A-F161-F3E6C50E3962}"/>
              </a:ext>
            </a:extLst>
          </p:cNvPr>
          <p:cNvSpPr txBox="1"/>
          <p:nvPr/>
        </p:nvSpPr>
        <p:spPr>
          <a:xfrm>
            <a:off x="1181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21A3FBB-53C1-18C4-6FE1-5B6B94746418}"/>
              </a:ext>
            </a:extLst>
          </p:cNvPr>
          <p:cNvSpPr txBox="1"/>
          <p:nvPr/>
        </p:nvSpPr>
        <p:spPr>
          <a:xfrm>
            <a:off x="1473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Aprovar orçamento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3D334CA-1A39-D980-0ADD-4A145DE990B6}"/>
              </a:ext>
            </a:extLst>
          </p:cNvPr>
          <p:cNvSpPr/>
          <p:nvPr/>
        </p:nvSpPr>
        <p:spPr>
          <a:xfrm>
            <a:off x="2984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ED9EB90-26B2-9F2D-3B56-9CCFF2C33094}"/>
              </a:ext>
            </a:extLst>
          </p:cNvPr>
          <p:cNvSpPr/>
          <p:nvPr/>
        </p:nvSpPr>
        <p:spPr>
          <a:xfrm>
            <a:off x="3086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6697C4E-D95B-A999-A26F-7C4A389ECA4F}"/>
              </a:ext>
            </a:extLst>
          </p:cNvPr>
          <p:cNvSpPr txBox="1"/>
          <p:nvPr/>
        </p:nvSpPr>
        <p:spPr>
          <a:xfrm>
            <a:off x="3149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8DCD98B-081A-93D6-6F71-B140DD8DA632}"/>
              </a:ext>
            </a:extLst>
          </p:cNvPr>
          <p:cNvSpPr txBox="1"/>
          <p:nvPr/>
        </p:nvSpPr>
        <p:spPr>
          <a:xfrm>
            <a:off x="3441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Nomear SPOC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03134C0-E8D5-253A-4E83-84D781CA70ED}"/>
              </a:ext>
            </a:extLst>
          </p:cNvPr>
          <p:cNvSpPr/>
          <p:nvPr/>
        </p:nvSpPr>
        <p:spPr>
          <a:xfrm>
            <a:off x="4953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8837D89-67CB-4FD7-1BF1-87A839EF2A2C}"/>
              </a:ext>
            </a:extLst>
          </p:cNvPr>
          <p:cNvSpPr/>
          <p:nvPr/>
        </p:nvSpPr>
        <p:spPr>
          <a:xfrm>
            <a:off x="5054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9EDCFA2-5CE6-4840-8EE0-0A7DF68BF96B}"/>
              </a:ext>
            </a:extLst>
          </p:cNvPr>
          <p:cNvSpPr txBox="1"/>
          <p:nvPr/>
        </p:nvSpPr>
        <p:spPr>
          <a:xfrm>
            <a:off x="5118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12D8DCF-FD5E-8D74-1BC4-F9730F330146}"/>
              </a:ext>
            </a:extLst>
          </p:cNvPr>
          <p:cNvSpPr txBox="1"/>
          <p:nvPr/>
        </p:nvSpPr>
        <p:spPr>
          <a:xfrm>
            <a:off x="5410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Validar dados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D16FB450-6342-F412-B66C-4F7FAE7A32DC}"/>
              </a:ext>
            </a:extLst>
          </p:cNvPr>
          <p:cNvSpPr/>
          <p:nvPr/>
        </p:nvSpPr>
        <p:spPr>
          <a:xfrm>
            <a:off x="6921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32675D6-4185-2031-4201-B98475E260B5}"/>
              </a:ext>
            </a:extLst>
          </p:cNvPr>
          <p:cNvSpPr/>
          <p:nvPr/>
        </p:nvSpPr>
        <p:spPr>
          <a:xfrm>
            <a:off x="7023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F6DE328-89FD-7AB0-AB16-4142B2F70FCB}"/>
              </a:ext>
            </a:extLst>
          </p:cNvPr>
          <p:cNvSpPr txBox="1"/>
          <p:nvPr/>
        </p:nvSpPr>
        <p:spPr>
          <a:xfrm>
            <a:off x="7086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6509A03-DE01-1647-3F14-383D4476094B}"/>
              </a:ext>
            </a:extLst>
          </p:cNvPr>
          <p:cNvSpPr txBox="1"/>
          <p:nvPr/>
        </p:nvSpPr>
        <p:spPr>
          <a:xfrm>
            <a:off x="7378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Kick-off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BFDE884-D051-3878-82B7-B1C0935B58C4}"/>
              </a:ext>
            </a:extLst>
          </p:cNvPr>
          <p:cNvSpPr/>
          <p:nvPr/>
        </p:nvSpPr>
        <p:spPr>
          <a:xfrm>
            <a:off x="8890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860AC10-5066-095D-1722-C9507F4E05E4}"/>
              </a:ext>
            </a:extLst>
          </p:cNvPr>
          <p:cNvSpPr/>
          <p:nvPr/>
        </p:nvSpPr>
        <p:spPr>
          <a:xfrm>
            <a:off x="8991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1FD8EDE-667B-7FA1-DF23-59BCE69768D8}"/>
              </a:ext>
            </a:extLst>
          </p:cNvPr>
          <p:cNvSpPr txBox="1"/>
          <p:nvPr/>
        </p:nvSpPr>
        <p:spPr>
          <a:xfrm>
            <a:off x="9055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0BDBFF5-14C5-BA86-4C44-2354F22F9779}"/>
              </a:ext>
            </a:extLst>
          </p:cNvPr>
          <p:cNvSpPr txBox="1"/>
          <p:nvPr/>
        </p:nvSpPr>
        <p:spPr>
          <a:xfrm>
            <a:off x="9347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Fit-gap</a:t>
            </a:r>
          </a:p>
        </p:txBody>
      </p:sp>
    </p:spTree>
    <p:extLst>
      <p:ext uri="{BB962C8B-B14F-4D97-AF65-F5344CB8AC3E}">
        <p14:creationId xmlns:p14="http://schemas.microsoft.com/office/powerpoint/2010/main" val="400636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4C02F3-13F7-B04B-E467-F5B458FCB0AA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2. Âmbito incluído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647790-B035-796A-3B22-8242083055B9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Módulos e entregas da Fase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E65F85-FBD1-49C2-7941-71794F9255A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AEF2B2-AC4D-77C4-F1D7-4B4BCDB0A1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608C031-763E-1F45-21AC-9521A5C9080B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440275-DF30-3F04-216C-B18BE33C5A6E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EB05F9-6332-F7FD-30E3-11C576F4396A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5FBD55E-58AD-817B-BE42-53F8095F36F8}"/>
              </a:ext>
            </a:extLst>
          </p:cNvPr>
          <p:cNvSpPr/>
          <p:nvPr/>
        </p:nvSpPr>
        <p:spPr>
          <a:xfrm>
            <a:off x="1066800" y="15240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80CBFBD-40B2-A234-9C8C-F8A8414B81B5}"/>
              </a:ext>
            </a:extLst>
          </p:cNvPr>
          <p:cNvSpPr txBox="1"/>
          <p:nvPr/>
        </p:nvSpPr>
        <p:spPr>
          <a:xfrm>
            <a:off x="1168400" y="1574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Base Odoo + l10n_pt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1F00F9-DBA5-9E25-9991-DA8471C65D2F}"/>
              </a:ext>
            </a:extLst>
          </p:cNvPr>
          <p:cNvSpPr txBox="1"/>
          <p:nvPr/>
        </p:nvSpPr>
        <p:spPr>
          <a:xfrm>
            <a:off x="3111500" y="1536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Odoo Enterprise saas~19.3 em SH cloud. Localização PT (l10n_pt), SAF-T, plugin certificação AT e configuração inicial (5 utilizadores, grupos de acesso, e-mail).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82B2554-0B15-3BA7-CB14-02B0E684623D}"/>
              </a:ext>
            </a:extLst>
          </p:cNvPr>
          <p:cNvSpPr/>
          <p:nvPr/>
        </p:nvSpPr>
        <p:spPr>
          <a:xfrm>
            <a:off x="1066800" y="2133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5C7729-A9C1-8DBE-8323-70E29972EE45}"/>
              </a:ext>
            </a:extLst>
          </p:cNvPr>
          <p:cNvSpPr txBox="1"/>
          <p:nvPr/>
        </p:nvSpPr>
        <p:spPr>
          <a:xfrm>
            <a:off x="1168400" y="2184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CRM e Vendas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AFE10C-5BB0-A3EC-9670-2BBEEE68198B}"/>
              </a:ext>
            </a:extLst>
          </p:cNvPr>
          <p:cNvSpPr txBox="1"/>
          <p:nvPr/>
        </p:nvSpPr>
        <p:spPr>
          <a:xfrm>
            <a:off x="3111500" y="2146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Pipeline CRM (fases, dashboards), orçamentos, listas de preço por marca (40–60%), dropshipping HASA/Jeremias, portal B2B.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8A3983C-A9DA-AB9E-5AF4-48FC1D7232BC}"/>
              </a:ext>
            </a:extLst>
          </p:cNvPr>
          <p:cNvSpPr/>
          <p:nvPr/>
        </p:nvSpPr>
        <p:spPr>
          <a:xfrm>
            <a:off x="1066800" y="27432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6C39EE2-9B39-3EFA-4EEB-68F67155B730}"/>
              </a:ext>
            </a:extLst>
          </p:cNvPr>
          <p:cNvSpPr txBox="1"/>
          <p:nvPr/>
        </p:nvSpPr>
        <p:spPr>
          <a:xfrm>
            <a:off x="1168400" y="2794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Compras e Inventário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11DCD4B-D444-A89D-02A5-3ACEE59C9DF1}"/>
              </a:ext>
            </a:extLst>
          </p:cNvPr>
          <p:cNvSpPr txBox="1"/>
          <p:nvPr/>
        </p:nvSpPr>
        <p:spPr>
          <a:xfrm>
            <a:off x="3111500" y="2755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Fornecedores EU (Starplast IT, HASA ES, Jeremias ES, Sunerg IT), rotas MTO, receção e dropshipping, guias de transporte.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6053F40-6381-37C4-D170-349F9CA62E34}"/>
              </a:ext>
            </a:extLst>
          </p:cNvPr>
          <p:cNvSpPr/>
          <p:nvPr/>
        </p:nvSpPr>
        <p:spPr>
          <a:xfrm>
            <a:off x="1066800" y="3352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238D39-9088-4CD7-74A1-929B929B8B75}"/>
              </a:ext>
            </a:extLst>
          </p:cNvPr>
          <p:cNvSpPr txBox="1"/>
          <p:nvPr/>
        </p:nvSpPr>
        <p:spPr>
          <a:xfrm>
            <a:off x="1168400" y="3403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Financeiro e Faturação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83BD90A-5567-04F9-116B-B0820071EAEC}"/>
              </a:ext>
            </a:extLst>
          </p:cNvPr>
          <p:cNvSpPr txBox="1"/>
          <p:nvPr/>
        </p:nvSpPr>
        <p:spPr>
          <a:xfrm>
            <a:off x="3111500" y="3365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Plano de contas PT, IVA (23%/13%/6%/Isento), SAF-T, plugin AT, condições de pagamento, adiantamentos e reconciliação bancária.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5F60C8D-6195-0374-B989-EFC5CA35F7DC}"/>
              </a:ext>
            </a:extLst>
          </p:cNvPr>
          <p:cNvSpPr/>
          <p:nvPr/>
        </p:nvSpPr>
        <p:spPr>
          <a:xfrm>
            <a:off x="1066800" y="39624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BC76FB6-D5C7-958B-9CFA-37A3524E65D8}"/>
              </a:ext>
            </a:extLst>
          </p:cNvPr>
          <p:cNvSpPr txBox="1"/>
          <p:nvPr/>
        </p:nvSpPr>
        <p:spPr>
          <a:xfrm>
            <a:off x="1168400" y="4013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Migração de Dados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71E6D79-1C7F-04E5-1F3B-4248497ADF5F}"/>
              </a:ext>
            </a:extLst>
          </p:cNvPr>
          <p:cNvSpPr txBox="1"/>
          <p:nvPr/>
        </p:nvSpPr>
        <p:spPr>
          <a:xfrm>
            <a:off x="3111500" y="3975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Catálogo (23 templates, 31+ SKUs), clientes/fornecedores de PHC GO/Excel e histórico CRM Pipedrive (10+ anos).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6F7BE69-4C9E-897E-161C-BDCB4A4A11CC}"/>
              </a:ext>
            </a:extLst>
          </p:cNvPr>
          <p:cNvSpPr/>
          <p:nvPr/>
        </p:nvSpPr>
        <p:spPr>
          <a:xfrm>
            <a:off x="7772400" y="1676400"/>
            <a:ext cx="3022600" cy="1270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4C00127-C5EB-D003-763B-7CC4E55DD621}"/>
              </a:ext>
            </a:extLst>
          </p:cNvPr>
          <p:cNvSpPr/>
          <p:nvPr/>
        </p:nvSpPr>
        <p:spPr>
          <a:xfrm>
            <a:off x="7772400" y="1676400"/>
            <a:ext cx="76200" cy="1270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00358B-701B-5098-2EC7-738AF141E174}"/>
              </a:ext>
            </a:extLst>
          </p:cNvPr>
          <p:cNvSpPr txBox="1"/>
          <p:nvPr/>
        </p:nvSpPr>
        <p:spPr>
          <a:xfrm>
            <a:off x="8001000" y="18288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 de âmbito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2B8D0ED-BD8A-BCD8-ED6A-C550D0F83424}"/>
              </a:ext>
            </a:extLst>
          </p:cNvPr>
          <p:cNvSpPr txBox="1"/>
          <p:nvPr/>
        </p:nvSpPr>
        <p:spPr>
          <a:xfrm>
            <a:off x="8001000" y="20828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Licenciamento Odoo SH e licenças de utilizadores em proposta separada (Stefano Biglieri). Plugin AT licenciado separadamente.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B2659D6-0853-5260-F849-05941879BE76}"/>
              </a:ext>
            </a:extLst>
          </p:cNvPr>
          <p:cNvSpPr/>
          <p:nvPr/>
        </p:nvSpPr>
        <p:spPr>
          <a:xfrm>
            <a:off x="7772400" y="3238500"/>
            <a:ext cx="3022600" cy="14605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8F0AB73-7C14-9C45-195A-854DD152A2AF}"/>
              </a:ext>
            </a:extLst>
          </p:cNvPr>
          <p:cNvSpPr/>
          <p:nvPr/>
        </p:nvSpPr>
        <p:spPr>
          <a:xfrm>
            <a:off x="7772400" y="3238500"/>
            <a:ext cx="76200" cy="14605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1598C46-C39B-966D-A8B1-1804BD69C05D}"/>
              </a:ext>
            </a:extLst>
          </p:cNvPr>
          <p:cNvSpPr txBox="1"/>
          <p:nvPr/>
        </p:nvSpPr>
        <p:spPr>
          <a:xfrm>
            <a:off x="8001000" y="33909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F97316"/>
                </a:solidFill>
                <a:latin typeface="Aptos" panose="020B0004020202020204" pitchFamily="34" charset="0"/>
              </a:rPr>
              <a:t>Risco controlado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0864197-7DAE-FA2F-F534-E9C927B7511D}"/>
              </a:ext>
            </a:extLst>
          </p:cNvPr>
          <p:cNvSpPr txBox="1"/>
          <p:nvPr/>
        </p:nvSpPr>
        <p:spPr>
          <a:xfrm>
            <a:off x="8001000" y="36449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Migração Pipedrive [POR VALIDAR] — 2 dias estimados; sujeito a revisão após análise do export. Segunda empresa (Starplast SRLE) excluída da Fase 1.</a:t>
            </a:r>
          </a:p>
        </p:txBody>
      </p:sp>
    </p:spTree>
    <p:extLst>
      <p:ext uri="{BB962C8B-B14F-4D97-AF65-F5344CB8AC3E}">
        <p14:creationId xmlns:p14="http://schemas.microsoft.com/office/powerpoint/2010/main" val="113186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720F4B-D5A3-9172-992B-A2AD72E98E58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3. Investimento Odoo principal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0530B3-3578-4FF0-2FEB-B4D8006A9BB4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 de implementação e referências de custo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BC1093-6C5C-1E2D-ADE1-3D0B9557042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5520A3-0C37-B3A5-0F74-A40CAF3FBB0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AE912A8-4898-20E7-621E-9A38088F3FFA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BE62F4-B923-F3CF-DB15-CF07ED2F01B1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C2D552-0B33-055A-D180-CD9292DED555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E09729B-C6A1-0575-9863-5589B7C85CF0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A45F9B-DB92-B482-9D93-19CEB27AE78F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Serviços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E10184-04E0-2764-7B60-986A6658C569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29 dias × €___/dia · Fase 1 Core Operacional · ~3 meses · ±15%.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012FAE-D6BB-28A7-BCE2-D6A4731EE1A8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EC9FDB-B745-52DD-00FD-AEFD5835DD7D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Licenciamento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3C5F308-ECD2-483C-DEB4-E100AFD8057D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Proposta separada por Stefano Biglieri — Odoo SH subscription + 5 licenças de utilizador.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CC70866-B585-2AF5-788E-655DB86161F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C49E06-3328-B2D4-2155-118B628F7823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Plugin AT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8B78319-9647-30BE-6C3F-84B992309A13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Plugin certificação de faturas AT — licenciado separadamente, custo não incluído nesta estimativa.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38C5C65-A795-81C6-D762-A4F49FED54E1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4E50A22-923C-6A7D-0F0A-3EA6D9C11186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Suporte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ADFDC0-975C-1BEA-CC25-F219F6ED916D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Suporte pós go-live em contrato separado — não incluído nesta estimativa.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79B23CC-DB7F-7A35-B79A-295AD4D74CF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66A91E1-6D7A-E631-2EFA-DCB1B377F530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Fase 1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358CB59-8AC4-992C-AAC5-AC64D45FDD44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29 dias × €___/dia · ±15% de margem de variação.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386B59D-28A2-991F-745B-CA808982F112}"/>
              </a:ext>
            </a:extLst>
          </p:cNvPr>
          <p:cNvSpPr/>
          <p:nvPr/>
        </p:nvSpPr>
        <p:spPr>
          <a:xfrm>
            <a:off x="8255000" y="2006600"/>
            <a:ext cx="2794000" cy="1524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8382A18-B26C-0DDC-8C3E-3AC9B54C3D7B}"/>
              </a:ext>
            </a:extLst>
          </p:cNvPr>
          <p:cNvSpPr/>
          <p:nvPr/>
        </p:nvSpPr>
        <p:spPr>
          <a:xfrm>
            <a:off x="8255000" y="2006600"/>
            <a:ext cx="76200" cy="1524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F797015-E89D-C63A-EC08-397B4C7C18E6}"/>
              </a:ext>
            </a:extLst>
          </p:cNvPr>
          <p:cNvSpPr txBox="1"/>
          <p:nvPr/>
        </p:nvSpPr>
        <p:spPr>
          <a:xfrm>
            <a:off x="8483600" y="21590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6043C80-61FB-AE32-96F2-FBF63B2936FE}"/>
              </a:ext>
            </a:extLst>
          </p:cNvPr>
          <p:cNvSpPr txBox="1"/>
          <p:nvPr/>
        </p:nvSpPr>
        <p:spPr>
          <a:xfrm>
            <a:off x="8483600" y="2413000"/>
            <a:ext cx="2387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Taxa diária a confirmar. Valores s/IVA conforme contrato de serviços. Licenciamento e plugin AT não incluídos.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6AB64F9-BF94-933F-FF44-C9F1F20B7992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0D500B3-9B2A-1CF3-7616-A5C07D4030BC}"/>
              </a:ext>
            </a:extLst>
          </p:cNvPr>
          <p:cNvSpPr txBox="1"/>
          <p:nvPr/>
        </p:nvSpPr>
        <p:spPr>
          <a:xfrm>
            <a:off x="1549400" y="5499100"/>
            <a:ext cx="8636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FFFFFF"/>
                </a:solidFill>
                <a:latin typeface="Aptos" panose="020B0004020202020204" pitchFamily="34" charset="0"/>
              </a:rPr>
              <a:t>Fase 1: 29 dias × €___/dia · Licenciamento e plugin AT em propostas separadas</a:t>
            </a:r>
          </a:p>
        </p:txBody>
      </p:sp>
    </p:spTree>
    <p:extLst>
      <p:ext uri="{BB962C8B-B14F-4D97-AF65-F5344CB8AC3E}">
        <p14:creationId xmlns:p14="http://schemas.microsoft.com/office/powerpoint/2010/main" val="392473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1B5258-8B92-489B-7B11-2DFE8BD22AD6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4. Fase 2 — Expansão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3B98A7-C492-D434-6A34-31691D4284AD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 dirty="0">
                <a:solidFill>
                  <a:srgbClr val="64748B"/>
                </a:solidFill>
                <a:latin typeface="Aptos" panose="020B0004020202020204" pitchFamily="34" charset="0"/>
              </a:rPr>
              <a:t>Valores indicativos · a confirmar após Fase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47FB52-F7F1-8647-DD78-BE73123A9632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435F32-CD53-2B1E-8675-A49A02EEF11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3054FAD-7C33-83E7-DB29-6B0C6FA500C5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487F4C-4994-5EF4-49AF-41D4D6276736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4D7AA6-E8D5-D45A-B99E-95EC7EF721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A25ACE0-B538-D9A0-D4C8-C5713413B4E7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084612-13FB-FFB7-3671-488F6D28DB45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Manufatura (BoM)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A2732C-1617-0A20-919D-42AF2BF1A1ED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 err="1">
                <a:solidFill>
                  <a:srgbClr val="111827"/>
                </a:solidFill>
                <a:latin typeface="Aptos" panose="020B0004020202020204" pitchFamily="34" charset="0"/>
              </a:rPr>
              <a:t>4 dias [POR VALIDAR] · BoM, Ordens de Fabrico e controlo de componentes para kits e montagens.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368AA67-91EA-E9CD-2CBE-A3E112DBF716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7A45A7-855E-DEBC-48FC-B91E4B7F8DF2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Multiempresa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36B4D7-14D1-B220-79E7-6D1F6725149D}"/>
              </a:ext>
            </a:extLst>
          </p:cNvPr>
          <p:cNvSpPr txBox="1"/>
          <p:nvPr/>
        </p:nvSpPr>
        <p:spPr>
          <a:xfrm>
            <a:off x="3111500" y="22225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3 dias [POR VALIDAR] · Segunda empresa (Starplast SRLE): utilizadores, acessos e transações intercompany.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279925A-4810-EF4C-4BC9-0E2517DDEB9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FAD0F9E-86B4-D808-6848-22E86A194A2F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Contabilidade Analítica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42D052-90C8-BFC2-282A-5A29D9ADF2B9}"/>
              </a:ext>
            </a:extLst>
          </p:cNvPr>
          <p:cNvSpPr txBox="1"/>
          <p:nvPr/>
        </p:nvSpPr>
        <p:spPr>
          <a:xfrm>
            <a:off x="3111500" y="28829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2 dias · Contas analíticas por projeto, marca e cliente; reporting de margem.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771D8AC-00E0-CE0C-75A8-C0D9744E3C5F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2EFF69B-567D-96FF-9EB7-3CEDA57C68BF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Módulos adicionais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729F973-AAF5-1340-1CD7-8A966773EC83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[POR VALIDAR] · Sign, Barcode, Documents, Helpdesk — a orçamentar por prioridade.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14049BC-B7BE-DC47-B84E-227724DD1E1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95F1BEA-B753-A05F-8FB0-769A1AC9731F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Fase 2 (base)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BF0CADB-90CC-2914-AE49-D663F37E36B3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9 dias (base) × €___/dia · não inclui módulos adicionais.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4225CC2-B2E2-9E16-0E5B-ABC3C159BA33}"/>
              </a:ext>
            </a:extLst>
          </p:cNvPr>
          <p:cNvSpPr/>
          <p:nvPr/>
        </p:nvSpPr>
        <p:spPr>
          <a:xfrm>
            <a:off x="8255000" y="1905000"/>
            <a:ext cx="2794000" cy="1651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E711E2D-A78E-7563-F75E-08C31C25DBA8}"/>
              </a:ext>
            </a:extLst>
          </p:cNvPr>
          <p:cNvSpPr/>
          <p:nvPr/>
        </p:nvSpPr>
        <p:spPr>
          <a:xfrm>
            <a:off x="8255000" y="1905000"/>
            <a:ext cx="76200" cy="1651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AC0B89C-83D2-1584-A023-0303405ADAE9}"/>
              </a:ext>
            </a:extLst>
          </p:cNvPr>
          <p:cNvSpPr txBox="1"/>
          <p:nvPr/>
        </p:nvSpPr>
        <p:spPr>
          <a:xfrm>
            <a:off x="8483600" y="20574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38E67A3-545C-3467-206D-E0DE1AD29CB8}"/>
              </a:ext>
            </a:extLst>
          </p:cNvPr>
          <p:cNvSpPr txBox="1"/>
          <p:nvPr/>
        </p:nvSpPr>
        <p:spPr>
          <a:xfrm>
            <a:off x="8483600" y="2311400"/>
            <a:ext cx="23876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Fase 2 só inicia após validação e aceite da Fase 1. Pontos [POR VALIDAR] confirmados em proposta separada.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D9D640A-5923-B74C-C647-B823CFB0E428}"/>
              </a:ext>
            </a:extLst>
          </p:cNvPr>
          <p:cNvSpPr txBox="1"/>
          <p:nvPr/>
        </p:nvSpPr>
        <p:spPr>
          <a:xfrm>
            <a:off x="914400" y="4902200"/>
            <a:ext cx="6604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80">
                <a:solidFill>
                  <a:srgbClr val="64748B"/>
                </a:solidFill>
                <a:latin typeface="Aptos" panose="020B0004020202020204" pitchFamily="34" charset="0"/>
              </a:rPr>
              <a:t>Módulos adicionais (Sign, Barcode, Documents, Helpdesk) a orçamentar separadamente.</a:t>
            </a:r>
          </a:p>
        </p:txBody>
      </p:sp>
    </p:spTree>
    <p:extLst>
      <p:ext uri="{BB962C8B-B14F-4D97-AF65-F5344CB8AC3E}">
        <p14:creationId xmlns:p14="http://schemas.microsoft.com/office/powerpoint/2010/main" val="1551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16283B-A198-F591-19FC-C4D34BD36AB1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5. Plano de trabalho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FC2A6E-4805-4FE7-5680-0BC7AFC6BC85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Distribuição indicativa em 12 semanas (~3 meses)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899392-CAD9-342A-67CF-75395C3C4455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0E2346-CC34-C160-E0BD-FA613B8A7E2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143483F-AAFC-6A9F-6060-61547F638776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7E7494-18DB-CF3C-87AB-6C6FB663D1DC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3DEF3-E517-1566-8C12-661FADB9B6AC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7D7F1A-EEB3-1B1B-5FE7-5F950D38151D}"/>
              </a:ext>
            </a:extLst>
          </p:cNvPr>
          <p:cNvSpPr txBox="1"/>
          <p:nvPr/>
        </p:nvSpPr>
        <p:spPr>
          <a:xfrm>
            <a:off x="3530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B82902-1BEB-95E8-4805-6C57F92ABD4C}"/>
              </a:ext>
            </a:extLst>
          </p:cNvPr>
          <p:cNvSpPr/>
          <p:nvPr/>
        </p:nvSpPr>
        <p:spPr>
          <a:xfrm>
            <a:off x="3530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069FE35-1783-93AD-FD73-B1CCD54C68DF}"/>
              </a:ext>
            </a:extLst>
          </p:cNvPr>
          <p:cNvSpPr txBox="1"/>
          <p:nvPr/>
        </p:nvSpPr>
        <p:spPr>
          <a:xfrm>
            <a:off x="4216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523C51-092D-ECCD-FB0B-E49C1F3FDED3}"/>
              </a:ext>
            </a:extLst>
          </p:cNvPr>
          <p:cNvSpPr/>
          <p:nvPr/>
        </p:nvSpPr>
        <p:spPr>
          <a:xfrm>
            <a:off x="4216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C42608-96C7-1878-C57C-4F8DA9F3E12C}"/>
              </a:ext>
            </a:extLst>
          </p:cNvPr>
          <p:cNvSpPr txBox="1"/>
          <p:nvPr/>
        </p:nvSpPr>
        <p:spPr>
          <a:xfrm>
            <a:off x="4902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B76A2F-EBDE-9840-E3DE-553EFA83C584}"/>
              </a:ext>
            </a:extLst>
          </p:cNvPr>
          <p:cNvSpPr/>
          <p:nvPr/>
        </p:nvSpPr>
        <p:spPr>
          <a:xfrm>
            <a:off x="4902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AEDB843-302D-B31D-7C33-B872EF02E12F}"/>
              </a:ext>
            </a:extLst>
          </p:cNvPr>
          <p:cNvSpPr txBox="1"/>
          <p:nvPr/>
        </p:nvSpPr>
        <p:spPr>
          <a:xfrm>
            <a:off x="5588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26FEF6-888F-B0F1-1E78-46D1860B449B}"/>
              </a:ext>
            </a:extLst>
          </p:cNvPr>
          <p:cNvSpPr/>
          <p:nvPr/>
        </p:nvSpPr>
        <p:spPr>
          <a:xfrm>
            <a:off x="5588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47BB1B-C531-9B16-6D9B-20E0A354421D}"/>
              </a:ext>
            </a:extLst>
          </p:cNvPr>
          <p:cNvSpPr txBox="1"/>
          <p:nvPr/>
        </p:nvSpPr>
        <p:spPr>
          <a:xfrm>
            <a:off x="62738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6C6C34-6EAA-1DFD-9455-4C4DFC5F81D2}"/>
              </a:ext>
            </a:extLst>
          </p:cNvPr>
          <p:cNvSpPr/>
          <p:nvPr/>
        </p:nvSpPr>
        <p:spPr>
          <a:xfrm>
            <a:off x="62738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9E01EEE-11DF-2821-5872-829C93293265}"/>
              </a:ext>
            </a:extLst>
          </p:cNvPr>
          <p:cNvSpPr txBox="1"/>
          <p:nvPr/>
        </p:nvSpPr>
        <p:spPr>
          <a:xfrm>
            <a:off x="6959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755B099-190E-1F45-C82D-615F076E71A8}"/>
              </a:ext>
            </a:extLst>
          </p:cNvPr>
          <p:cNvSpPr/>
          <p:nvPr/>
        </p:nvSpPr>
        <p:spPr>
          <a:xfrm>
            <a:off x="6959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D72366B-5C39-23A0-4237-C432F8236DEE}"/>
              </a:ext>
            </a:extLst>
          </p:cNvPr>
          <p:cNvSpPr txBox="1"/>
          <p:nvPr/>
        </p:nvSpPr>
        <p:spPr>
          <a:xfrm>
            <a:off x="7645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S7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7532AF8-B98B-9EF0-955E-BE099DEADD73}"/>
              </a:ext>
            </a:extLst>
          </p:cNvPr>
          <p:cNvSpPr/>
          <p:nvPr/>
        </p:nvSpPr>
        <p:spPr>
          <a:xfrm>
            <a:off x="7645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FA47DC-B1B1-CD7B-BBEA-B1248CE5025F}"/>
              </a:ext>
            </a:extLst>
          </p:cNvPr>
          <p:cNvSpPr txBox="1"/>
          <p:nvPr/>
        </p:nvSpPr>
        <p:spPr>
          <a:xfrm>
            <a:off x="8331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S8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E8FCD25-1D0C-2629-AF68-C034B7D727F5}"/>
              </a:ext>
            </a:extLst>
          </p:cNvPr>
          <p:cNvSpPr/>
          <p:nvPr/>
        </p:nvSpPr>
        <p:spPr>
          <a:xfrm>
            <a:off x="8331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036B608-43F3-183F-DD3E-352854C094CD}"/>
              </a:ext>
            </a:extLst>
          </p:cNvPr>
          <p:cNvSpPr txBox="1"/>
          <p:nvPr/>
        </p:nvSpPr>
        <p:spPr>
          <a:xfrm>
            <a:off x="9017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S9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4D6BDD1-BB6D-D318-1179-7207BD941A55}"/>
              </a:ext>
            </a:extLst>
          </p:cNvPr>
          <p:cNvSpPr/>
          <p:nvPr/>
        </p:nvSpPr>
        <p:spPr>
          <a:xfrm>
            <a:off x="9017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1673C87-E5B1-9EF8-450F-7A29416C4C00}"/>
              </a:ext>
            </a:extLst>
          </p:cNvPr>
          <p:cNvSpPr txBox="1"/>
          <p:nvPr/>
        </p:nvSpPr>
        <p:spPr>
          <a:xfrm>
            <a:off x="889000" y="1943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Gestão de Projeto + Setup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FC816A3-3CCB-AF40-95BF-D8FCF1A61197}"/>
              </a:ext>
            </a:extLst>
          </p:cNvPr>
          <p:cNvSpPr txBox="1"/>
          <p:nvPr/>
        </p:nvSpPr>
        <p:spPr>
          <a:xfrm>
            <a:off x="2768600" y="1943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4d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EBA544F-8587-1422-EE3C-2026A68722DB}"/>
              </a:ext>
            </a:extLst>
          </p:cNvPr>
          <p:cNvSpPr/>
          <p:nvPr/>
        </p:nvSpPr>
        <p:spPr>
          <a:xfrm>
            <a:off x="3530600" y="2006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0EC2AD3-A662-EB61-2940-61605B4986BC}"/>
              </a:ext>
            </a:extLst>
          </p:cNvPr>
          <p:cNvSpPr/>
          <p:nvPr/>
        </p:nvSpPr>
        <p:spPr>
          <a:xfrm>
            <a:off x="3568700" y="1981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26B5E48-A890-5497-1932-F3391C498DAA}"/>
              </a:ext>
            </a:extLst>
          </p:cNvPr>
          <p:cNvSpPr txBox="1"/>
          <p:nvPr/>
        </p:nvSpPr>
        <p:spPr>
          <a:xfrm>
            <a:off x="889000" y="2324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CRM e Vendas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D794752-72D8-4AC1-3C68-9F846D430330}"/>
              </a:ext>
            </a:extLst>
          </p:cNvPr>
          <p:cNvSpPr txBox="1"/>
          <p:nvPr/>
        </p:nvSpPr>
        <p:spPr>
          <a:xfrm>
            <a:off x="2768600" y="2324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5d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7D99EB0-4556-38A4-B0C6-6BF8202E2392}"/>
              </a:ext>
            </a:extLst>
          </p:cNvPr>
          <p:cNvSpPr/>
          <p:nvPr/>
        </p:nvSpPr>
        <p:spPr>
          <a:xfrm>
            <a:off x="3530600" y="2387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51DD63A-1B5B-15F5-311C-0F1170CD26D7}"/>
              </a:ext>
            </a:extLst>
          </p:cNvPr>
          <p:cNvSpPr/>
          <p:nvPr/>
        </p:nvSpPr>
        <p:spPr>
          <a:xfrm>
            <a:off x="3568700" y="2362200"/>
            <a:ext cx="19812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CB45A75-BCCF-D997-F08E-F545A60451BA}"/>
              </a:ext>
            </a:extLst>
          </p:cNvPr>
          <p:cNvSpPr txBox="1"/>
          <p:nvPr/>
        </p:nvSpPr>
        <p:spPr>
          <a:xfrm>
            <a:off x="889000" y="2705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Compras e Inventário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2FE043C-EEC0-1C1C-EEBE-F371BC60AC03}"/>
              </a:ext>
            </a:extLst>
          </p:cNvPr>
          <p:cNvSpPr txBox="1"/>
          <p:nvPr/>
        </p:nvSpPr>
        <p:spPr>
          <a:xfrm>
            <a:off x="2768600" y="2705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4d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FDAAAC0-C079-F87C-4124-8D25FBFEF2D7}"/>
              </a:ext>
            </a:extLst>
          </p:cNvPr>
          <p:cNvSpPr/>
          <p:nvPr/>
        </p:nvSpPr>
        <p:spPr>
          <a:xfrm>
            <a:off x="3530600" y="2768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64E5C06-6987-22CD-5543-A6AEC96327EF}"/>
              </a:ext>
            </a:extLst>
          </p:cNvPr>
          <p:cNvSpPr/>
          <p:nvPr/>
        </p:nvSpPr>
        <p:spPr>
          <a:xfrm>
            <a:off x="4254500" y="2743200"/>
            <a:ext cx="40386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B0FF838-92FE-D48C-02C2-DF19ACF39916}"/>
              </a:ext>
            </a:extLst>
          </p:cNvPr>
          <p:cNvSpPr txBox="1"/>
          <p:nvPr/>
        </p:nvSpPr>
        <p:spPr>
          <a:xfrm>
            <a:off x="889000" y="3086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Financeiro l10n_pt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D565BD6-1D9D-F88A-1664-6F97DA921DDD}"/>
              </a:ext>
            </a:extLst>
          </p:cNvPr>
          <p:cNvSpPr txBox="1"/>
          <p:nvPr/>
        </p:nvSpPr>
        <p:spPr>
          <a:xfrm>
            <a:off x="2768600" y="3086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3d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A85A9E53-D59D-654B-6472-88E0BCEAD901}"/>
              </a:ext>
            </a:extLst>
          </p:cNvPr>
          <p:cNvSpPr/>
          <p:nvPr/>
        </p:nvSpPr>
        <p:spPr>
          <a:xfrm>
            <a:off x="3530600" y="3149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5A702FA-56D2-1277-87CE-ECA015B736A5}"/>
              </a:ext>
            </a:extLst>
          </p:cNvPr>
          <p:cNvSpPr/>
          <p:nvPr/>
        </p:nvSpPr>
        <p:spPr>
          <a:xfrm>
            <a:off x="5626100" y="3124200"/>
            <a:ext cx="1981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4391A1A-A2F6-AA80-271F-2D023349275A}"/>
              </a:ext>
            </a:extLst>
          </p:cNvPr>
          <p:cNvSpPr txBox="1"/>
          <p:nvPr/>
        </p:nvSpPr>
        <p:spPr>
          <a:xfrm>
            <a:off x="889000" y="3467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Migração de Dados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84A56BC-40C5-38E2-A954-06C0CB804F27}"/>
              </a:ext>
            </a:extLst>
          </p:cNvPr>
          <p:cNvSpPr txBox="1"/>
          <p:nvPr/>
        </p:nvSpPr>
        <p:spPr>
          <a:xfrm>
            <a:off x="2768600" y="3467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3d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79AFDC2-232F-E0AE-07FA-9C7410122A0A}"/>
              </a:ext>
            </a:extLst>
          </p:cNvPr>
          <p:cNvSpPr/>
          <p:nvPr/>
        </p:nvSpPr>
        <p:spPr>
          <a:xfrm>
            <a:off x="3530600" y="3530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E0AA3E2-BC57-09CB-2AEC-AB622B389E74}"/>
              </a:ext>
            </a:extLst>
          </p:cNvPr>
          <p:cNvSpPr/>
          <p:nvPr/>
        </p:nvSpPr>
        <p:spPr>
          <a:xfrm>
            <a:off x="6997700" y="3505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5FCE15F-6C36-9F43-66EA-EEE12D08A2EA}"/>
              </a:ext>
            </a:extLst>
          </p:cNvPr>
          <p:cNvSpPr txBox="1"/>
          <p:nvPr/>
        </p:nvSpPr>
        <p:spPr>
          <a:xfrm>
            <a:off x="889000" y="3848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Migração Pipedrive [POR VALIDAR]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8F96FEA-F2BF-2EFC-FAFB-2AF982FD8F97}"/>
              </a:ext>
            </a:extLst>
          </p:cNvPr>
          <p:cNvSpPr txBox="1"/>
          <p:nvPr/>
        </p:nvSpPr>
        <p:spPr>
          <a:xfrm>
            <a:off x="2768600" y="3848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6FAFC283-58B4-3CA2-91F6-48AF16377B66}"/>
              </a:ext>
            </a:extLst>
          </p:cNvPr>
          <p:cNvSpPr/>
          <p:nvPr/>
        </p:nvSpPr>
        <p:spPr>
          <a:xfrm>
            <a:off x="3530600" y="3911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A1BB2345-597E-53B9-D3AC-026DE9883957}"/>
              </a:ext>
            </a:extLst>
          </p:cNvPr>
          <p:cNvSpPr/>
          <p:nvPr/>
        </p:nvSpPr>
        <p:spPr>
          <a:xfrm>
            <a:off x="6997700" y="3886200"/>
            <a:ext cx="12954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A55DC06-1DF1-780D-F490-394682CD1516}"/>
              </a:ext>
            </a:extLst>
          </p:cNvPr>
          <p:cNvSpPr txBox="1"/>
          <p:nvPr/>
        </p:nvSpPr>
        <p:spPr>
          <a:xfrm>
            <a:off x="889000" y="4229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Testes e Validação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B6EBF79-3494-239B-FEFA-95B20755082F}"/>
              </a:ext>
            </a:extLst>
          </p:cNvPr>
          <p:cNvSpPr txBox="1"/>
          <p:nvPr/>
        </p:nvSpPr>
        <p:spPr>
          <a:xfrm>
            <a:off x="2768600" y="4229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6124419-9BCA-34DA-9E3B-B103C4EF6643}"/>
              </a:ext>
            </a:extLst>
          </p:cNvPr>
          <p:cNvSpPr/>
          <p:nvPr/>
        </p:nvSpPr>
        <p:spPr>
          <a:xfrm>
            <a:off x="3530600" y="4292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A883CCD9-67FF-7AF9-CCBA-216050C694D2}"/>
              </a:ext>
            </a:extLst>
          </p:cNvPr>
          <p:cNvSpPr/>
          <p:nvPr/>
        </p:nvSpPr>
        <p:spPr>
          <a:xfrm>
            <a:off x="7683500" y="4267200"/>
            <a:ext cx="19812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E517B5F-4B5D-50F3-CDA4-F415953581FC}"/>
              </a:ext>
            </a:extLst>
          </p:cNvPr>
          <p:cNvSpPr txBox="1"/>
          <p:nvPr/>
        </p:nvSpPr>
        <p:spPr>
          <a:xfrm>
            <a:off x="889000" y="4610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Formação e Arranque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FAA2912-641B-EB81-CD13-9BA0E2148C1E}"/>
              </a:ext>
            </a:extLst>
          </p:cNvPr>
          <p:cNvSpPr txBox="1"/>
          <p:nvPr/>
        </p:nvSpPr>
        <p:spPr>
          <a:xfrm>
            <a:off x="2768600" y="4610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3d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D99B5ED-1891-DCC3-A2B1-2A43DAB788DB}"/>
              </a:ext>
            </a:extLst>
          </p:cNvPr>
          <p:cNvSpPr/>
          <p:nvPr/>
        </p:nvSpPr>
        <p:spPr>
          <a:xfrm>
            <a:off x="3530600" y="4673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185382A-868C-17F4-02C3-74C2A8331BCC}"/>
              </a:ext>
            </a:extLst>
          </p:cNvPr>
          <p:cNvSpPr/>
          <p:nvPr/>
        </p:nvSpPr>
        <p:spPr>
          <a:xfrm>
            <a:off x="3568700" y="4648200"/>
            <a:ext cx="5410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0B912B5-A040-6763-FE6F-FA0A0DC46CCA}"/>
              </a:ext>
            </a:extLst>
          </p:cNvPr>
          <p:cNvSpPr/>
          <p:nvPr/>
        </p:nvSpPr>
        <p:spPr>
          <a:xfrm>
            <a:off x="1092200" y="5486400"/>
            <a:ext cx="9652000" cy="4826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6917DB6-FA40-A4C9-0016-097BE3B254DB}"/>
              </a:ext>
            </a:extLst>
          </p:cNvPr>
          <p:cNvSpPr txBox="1"/>
          <p:nvPr/>
        </p:nvSpPr>
        <p:spPr>
          <a:xfrm>
            <a:off x="1397000" y="5651500"/>
            <a:ext cx="8953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111827"/>
                </a:solidFill>
                <a:latin typeface="Aptos" panose="020B0004020202020204" pitchFamily="34" charset="0"/>
              </a:rPr>
              <a:t>Total Fase 1: 29 dias · início 2-3 semanas após assinatura</a:t>
            </a:r>
          </a:p>
        </p:txBody>
      </p:sp>
    </p:spTree>
    <p:extLst>
      <p:ext uri="{BB962C8B-B14F-4D97-AF65-F5344CB8AC3E}">
        <p14:creationId xmlns:p14="http://schemas.microsoft.com/office/powerpoint/2010/main" val="352071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5AF415-9F2D-7D93-6679-EB03F2B2C21B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6. Pressupostos, exclusões e próximos passos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3CC642-C8BA-2627-D477-243D920764E7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Condições de aprovação e arranque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DB2D03-2405-D000-C092-EE755914ECC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EAF969-6E68-666B-3388-F306128FD7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7BFABCF-44FE-000A-9DDF-9FB2382F74C7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B6F6E3-7130-188C-CB0D-97F73D479A9B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09F3FC-B54D-461E-88D1-A419CD13A55D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8B89777-5A43-7879-9243-DEE42C911E5B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13AE2A-EB4D-974B-7205-CCED61361CAD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Pressupostos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FFEF3D-9C5C-54E0-DAF1-09619A88AAD3}"/>
              </a:ext>
            </a:extLst>
          </p:cNvPr>
          <p:cNvSpPr txBox="1"/>
          <p:nvPr/>
        </p:nvSpPr>
        <p:spPr>
          <a:xfrm>
            <a:off x="3111500" y="1562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5 utilizadores · Odoo SH cloud · l10n_pt · Fase 1 sem custom · interlocutor disponível 4h/semana.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7B8B45C-7342-E991-C385-706CEFAA87BA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6D2760-3AA6-8950-633B-107E9FFD244E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Dados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5D3F22-F935-BB3B-1301-2F77119D7F69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Cliente fornece catálogo (23 templates, 31+ SKUs), clientes/fornecedores e saldos em aberto em Excel limpo antes do início da migração.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3ADAB8-D4BE-F7BC-2881-A09E62D8B2FC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227077F-88F8-56B6-D2CC-FC7473C07208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Exclusões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62357B-C623-E6AE-2ADF-20932763C4CD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Licenciamento Odoo (Stefano Biglieri), plugin AT, custom code, integrações externas não listadas, suporte pós go-live, segunda empresa Fase 1.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1A80A7-37CE-3F07-8875-06DFA6595E47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665A33-6AA7-8FBD-159C-40154159C8A9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Validação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3D5069-AFA4-BDEE-C144-25A4DA77DC9A}"/>
              </a:ext>
            </a:extLst>
          </p:cNvPr>
          <p:cNvSpPr txBox="1"/>
          <p:nvPr/>
        </p:nvSpPr>
        <p:spPr>
          <a:xfrm>
            <a:off x="3111500" y="3543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Migração Pipedrive [POR VALIDAR] — estimativa de 2 dias sujeita a revisão após análise do export (volume e qualidade).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9C2A79C-3D90-B742-56D1-6A5D7656D766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9D70720-B1C7-3FA6-2655-8D89FF4369C8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Aprovação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9F67D41-DBB8-AACA-EAF2-0F9677055AFB}"/>
              </a:ext>
            </a:extLst>
          </p:cNvPr>
          <p:cNvSpPr txBox="1"/>
          <p:nvPr/>
        </p:nvSpPr>
        <p:spPr>
          <a:xfrm>
            <a:off x="3111500" y="4203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Aprovação até 20/06/2026. Nomeação de SPOC, agenda de levantamento e kick-off.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A55E76D-7F49-0CC5-877E-DD69C4B4438D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8F82F93-A462-85DF-DC64-C1A39F8B3F80}"/>
              </a:ext>
            </a:extLst>
          </p:cNvPr>
          <p:cNvSpPr txBox="1"/>
          <p:nvPr/>
        </p:nvSpPr>
        <p:spPr>
          <a:xfrm>
            <a:off x="1600200" y="5499100"/>
            <a:ext cx="8572500" cy="1585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30" b="1">
                <a:solidFill>
                  <a:srgbClr val="FFFFFF"/>
                </a:solidFill>
                <a:latin typeface="Aptos" panose="020B0004020202020204" pitchFamily="34" charset="0"/>
              </a:rPr>
              <a:t>Aprovação → SPOC → validação de dados/licenças → kick-off → arranque Fase 1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7BF2B29-6275-7D17-7744-1429C1BE484E}"/>
              </a:ext>
            </a:extLst>
          </p:cNvPr>
          <p:cNvSpPr txBox="1"/>
          <p:nvPr/>
        </p:nvSpPr>
        <p:spPr>
          <a:xfrm>
            <a:off x="3302000" y="6096000"/>
            <a:ext cx="5588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Valores apresentados s/IVA e sujeitos aos pressupostos constantes do orçamento Excel.</a:t>
            </a:r>
          </a:p>
        </p:txBody>
      </p:sp>
    </p:spTree>
    <p:extLst>
      <p:ext uri="{BB962C8B-B14F-4D97-AF65-F5344CB8AC3E}">
        <p14:creationId xmlns:p14="http://schemas.microsoft.com/office/powerpoint/2010/main" val="416636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863</Words>
  <Application>Microsoft Office PowerPoint</Application>
  <PresentationFormat>Ecrã Panorâmico</PresentationFormat>
  <Paragraphs>138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Parâmetro + Pedro Coelho</cp:lastModifiedBy>
  <cp:revision>11</cp:revision>
  <dcterms:created xsi:type="dcterms:W3CDTF">2013-01-27T09:14:16Z</dcterms:created>
  <dcterms:modified xsi:type="dcterms:W3CDTF">2026-05-22T15:59:08Z</dcterms:modified>
  <cp:category/>
</cp:coreProperties>
</file>