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pic>
        <p:nvPicPr>
          <p:cNvPr id="3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1993392"/>
            <a:ext cx="7315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Opportunities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77240" y="2679192"/>
            <a:ext cx="1600200" cy="50292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04672" y="2852928"/>
            <a:ext cx="7680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Report — Revisão Pós Go-Live &amp; Roadmap</a:t>
            </a:r>
            <a:endParaRPr lang="en-US" sz="1220" dirty="0"/>
          </a:p>
        </p:txBody>
      </p:sp>
      <p:sp>
        <p:nvSpPr>
          <p:cNvPr id="7" name="Text 3"/>
          <p:cNvSpPr/>
          <p:nvPr/>
        </p:nvSpPr>
        <p:spPr>
          <a:xfrm>
            <a:off x="822960" y="1664208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· SECOND DEPLOYMENT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804672" y="4791456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_______________________     Período: ____________     Data: ____________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04672" y="5102352"/>
            <a:ext cx="7315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Apresentado por: _______________________ (Project Leader, Odoo)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5080">
            <a:solidFill>
              <a:srgbClr val="151D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Recap da Fase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foi entregue e está em produção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3291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Opportunities | Second Deployment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35331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078992" y="1728216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CRM — pipeline e propostas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868680" y="2084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078992" y="2075688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+ Inventory — compras e stock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868680" y="24323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078992" y="2423160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— faturação e reconciliação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868680" y="27797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1078992" y="277063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por departamento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532120" y="1417320"/>
            <a:ext cx="2240280" cy="548640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532120" y="2075688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faturas emitidas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5532120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Odoo</a:t>
            </a:r>
            <a:endParaRPr lang="en-US" sz="640" dirty="0"/>
          </a:p>
        </p:txBody>
      </p:sp>
      <p:sp>
        <p:nvSpPr>
          <p:cNvPr id="21" name="Text 18"/>
          <p:cNvSpPr/>
          <p:nvPr/>
        </p:nvSpPr>
        <p:spPr>
          <a:xfrm>
            <a:off x="8275320" y="1417320"/>
            <a:ext cx="2240280" cy="548640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275320" y="2075688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key-users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8275320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autónomos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5532120" y="2971800"/>
            <a:ext cx="2240280" cy="548640"/>
          </a:xfrm>
          <a:prstGeom prst="rect">
            <a:avLst/>
          </a:prstGeom>
          <a:solidFill>
            <a:srgbClr val="FFEDD5"/>
          </a:solidFill>
          <a:ln w="7620"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−42%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532120" y="3630168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ciclo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5532120" y="3904488"/>
            <a:ext cx="2240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administrativo</a:t>
            </a:r>
            <a:endParaRPr lang="en-US" sz="640" dirty="0"/>
          </a:p>
        </p:txBody>
      </p:sp>
      <p:sp>
        <p:nvSpPr>
          <p:cNvPr id="27" name="Text 24"/>
          <p:cNvSpPr/>
          <p:nvPr/>
        </p:nvSpPr>
        <p:spPr>
          <a:xfrm>
            <a:off x="8275320" y="2971800"/>
            <a:ext cx="2240280" cy="548640"/>
          </a:xfrm>
          <a:prstGeom prst="rect">
            <a:avLst/>
          </a:prstGeom>
          <a:solidFill>
            <a:srgbClr val="F3E8FF"/>
          </a:solidFill>
          <a:ln w="7620"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8275320" y="3630168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única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8275320" y="3904488"/>
            <a:ext cx="2240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dados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868680" y="5212080"/>
            <a:ext cx="102412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E2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da Fase 1 atingidos ou superados face às estimativas da Análise ROI. Sistema estável e adotado pela operação.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Benefícios Realizados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 na ROI vs. realizado pós go-live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3291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Opportunities | Second Deployment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Melhoria de eficiência por área (%)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admin.</a:t>
            </a:r>
            <a:endParaRPr lang="en-US" sz="740" dirty="0"/>
          </a:p>
        </p:txBody>
      </p:sp>
      <p:sp>
        <p:nvSpPr>
          <p:cNvPr id="11" name="Shape 8"/>
          <p:cNvSpPr/>
          <p:nvPr/>
        </p:nvSpPr>
        <p:spPr>
          <a:xfrm>
            <a:off x="2926080" y="1783080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783080"/>
            <a:ext cx="1168146" cy="128016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984248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0" y="1984248"/>
            <a:ext cx="1401775" cy="128016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1737360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640" dirty="0"/>
          </a:p>
        </p:txBody>
      </p:sp>
      <p:sp>
        <p:nvSpPr>
          <p:cNvPr id="16" name="Text 13"/>
          <p:cNvSpPr/>
          <p:nvPr/>
        </p:nvSpPr>
        <p:spPr>
          <a:xfrm>
            <a:off x="6336792" y="1938528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42%</a:t>
            </a:r>
            <a:endParaRPr lang="en-US" sz="640" dirty="0"/>
          </a:p>
        </p:txBody>
      </p:sp>
      <p:sp>
        <p:nvSpPr>
          <p:cNvPr id="17" name="Text 14"/>
          <p:cNvSpPr/>
          <p:nvPr/>
        </p:nvSpPr>
        <p:spPr>
          <a:xfrm>
            <a:off x="868680" y="25328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faturação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2926080" y="2578608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0" y="2578608"/>
            <a:ext cx="1668780" cy="128016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779776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0" y="2779776"/>
            <a:ext cx="2169414" cy="128016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2532888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640" dirty="0"/>
          </a:p>
        </p:txBody>
      </p:sp>
      <p:sp>
        <p:nvSpPr>
          <p:cNvPr id="23" name="Text 20"/>
          <p:cNvSpPr/>
          <p:nvPr/>
        </p:nvSpPr>
        <p:spPr>
          <a:xfrm>
            <a:off x="6336792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68680" y="33284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Visibilidade stock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2926080" y="3374136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26080" y="3374136"/>
            <a:ext cx="2002536" cy="128016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6080" y="3575304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0" y="3575304"/>
            <a:ext cx="2670048" cy="128016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36792" y="3328416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6336792" y="3529584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640" dirty="0"/>
          </a:p>
        </p:txBody>
      </p:sp>
      <p:sp>
        <p:nvSpPr>
          <p:cNvPr id="31" name="Text 28"/>
          <p:cNvSpPr/>
          <p:nvPr/>
        </p:nvSpPr>
        <p:spPr>
          <a:xfrm>
            <a:off x="868680" y="41239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reporting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2926080" y="4169664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926080" y="4169664"/>
            <a:ext cx="2336292" cy="128016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926080" y="4370832"/>
            <a:ext cx="3337560" cy="128016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26080" y="4370832"/>
            <a:ext cx="2503170" cy="128016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36792" y="4123944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640" dirty="0"/>
          </a:p>
        </p:txBody>
      </p:sp>
      <p:sp>
        <p:nvSpPr>
          <p:cNvPr id="37" name="Text 34"/>
          <p:cNvSpPr/>
          <p:nvPr/>
        </p:nvSpPr>
        <p:spPr>
          <a:xfrm>
            <a:off x="6336792" y="4325112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640" dirty="0"/>
          </a:p>
        </p:txBody>
      </p:sp>
      <p:sp>
        <p:nvSpPr>
          <p:cNvPr id="38" name="Shape 35"/>
          <p:cNvSpPr/>
          <p:nvPr/>
        </p:nvSpPr>
        <p:spPr>
          <a:xfrm>
            <a:off x="2743200" y="5010912"/>
            <a:ext cx="182880" cy="109728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99232" y="4956048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 (ROI)</a:t>
            </a:r>
            <a:endParaRPr lang="en-US" sz="640" dirty="0"/>
          </a:p>
        </p:txBody>
      </p:sp>
      <p:sp>
        <p:nvSpPr>
          <p:cNvPr id="40" name="Shape 37"/>
          <p:cNvSpPr/>
          <p:nvPr/>
        </p:nvSpPr>
        <p:spPr>
          <a:xfrm>
            <a:off x="4434840" y="5010912"/>
            <a:ext cx="182880" cy="109728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90872" y="49560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Realizado</a:t>
            </a:r>
            <a:endParaRPr lang="en-US" sz="640" dirty="0"/>
          </a:p>
        </p:txBody>
      </p:sp>
      <p:sp>
        <p:nvSpPr>
          <p:cNvPr id="42" name="Text 39"/>
          <p:cNvSpPr/>
          <p:nvPr/>
        </p:nvSpPr>
        <p:spPr>
          <a:xfrm>
            <a:off x="7360920" y="1444752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executiva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7452360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7662672" y="1865376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Ganhos reais acima do estimado em 3 de 4 áreas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7452360" y="22585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46" name="Text 43"/>
          <p:cNvSpPr/>
          <p:nvPr/>
        </p:nvSpPr>
        <p:spPr>
          <a:xfrm>
            <a:off x="7662672" y="2249424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impacto na visibilidade de stock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7452360" y="26426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7662672" y="2633472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Faturação quase sem erros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7452360" y="30266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7662672" y="3017520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sólida para alargar o âmbito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7360920" y="4892040"/>
            <a:ext cx="3886200" cy="56692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Conclusão: a Fase 2 deve preservar o standard já estabilizado e ampliar valor em áreas com elevado retorno operacional.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Oportunidades Digitais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 onde Odoo pode gerar mais valor — candidatas a Fase 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3291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Opportunities | Second Deployment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841248" y="1435608"/>
            <a:ext cx="4114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08760" y="1417320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/ MRP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09160" y="1399032"/>
            <a:ext cx="5943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Planeamento de produção e consumo de materiais integrado com stock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1508760" y="2039112"/>
            <a:ext cx="93268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423160"/>
            <a:ext cx="411480" cy="41148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08760" y="2404872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&amp; Portal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09160" y="2386584"/>
            <a:ext cx="5943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Loja online e portal de cliente ligados ao inventário em tempo real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1508760" y="3026664"/>
            <a:ext cx="93268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410712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760" y="3392424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 (Studio)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09160" y="3374136"/>
            <a:ext cx="5943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Aprovações, alertas e fluxos personalizados sem código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1508760" y="4014216"/>
            <a:ext cx="93268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" y="4398264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&amp; Dashboards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09160" y="4361688"/>
            <a:ext cx="5943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de gestão em tempo real para decisão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508760" y="5001768"/>
            <a:ext cx="93268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504688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de seleção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868680" y="5815584"/>
            <a:ext cx="8961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incremental, esforço de implementação, dependências de dados e clareza do owner de negócio.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Priorização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vs. esforço — onde começar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3291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Opportunities | Second Deployment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097280" y="123444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impacto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097280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 impacto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2560320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 esforço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7406640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esforço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1188720" y="1600200"/>
            <a:ext cx="4343400" cy="256032"/>
          </a:xfrm>
          <a:prstGeom prst="rect">
            <a:avLst/>
          </a:prstGeom>
          <a:solidFill>
            <a:srgbClr val="DCFCE7"/>
          </a:solidFill>
          <a:ln w="5715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wins — fazer já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1298448" y="19933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508760" y="19842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&amp; Dashboards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298448" y="22585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508760" y="224942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 de aprovações (Studio)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6263640" y="1600200"/>
            <a:ext cx="4343400" cy="256032"/>
          </a:xfrm>
          <a:prstGeom prst="rect">
            <a:avLst/>
          </a:prstGeom>
          <a:solidFill>
            <a:srgbClr val="EBF7FF"/>
          </a:solidFill>
          <a:ln w="5715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Estratégico — planear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6373368" y="19933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6583680" y="19842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/ MRP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6373368" y="22585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6583680" y="224942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&amp; Portal de cliente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188720" y="3977640"/>
            <a:ext cx="4343400" cy="256032"/>
          </a:xfrm>
          <a:prstGeom prst="rect">
            <a:avLst/>
          </a:prstGeom>
          <a:solidFill>
            <a:srgbClr val="FEF3C7"/>
          </a:solidFill>
          <a:ln w="5715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Reavaliar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1298448" y="4370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508760" y="436168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Integrações de nicho com sistemas legados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298448" y="4636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508760" y="46268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Itens do parking lot da Fase 1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6263640" y="3977640"/>
            <a:ext cx="4343400" cy="256032"/>
          </a:xfrm>
          <a:prstGeom prst="rect">
            <a:avLst/>
          </a:prstGeom>
          <a:solidFill>
            <a:srgbClr val="FEE2E2"/>
          </a:solidFill>
          <a:ln w="5715"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por agora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6373368" y="4370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30" name="Text 27"/>
          <p:cNvSpPr/>
          <p:nvPr/>
        </p:nvSpPr>
        <p:spPr>
          <a:xfrm>
            <a:off x="6583680" y="436168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Customizações que rompem o standard</a:t>
            </a:r>
            <a:endParaRPr lang="en-US" sz="660" dirty="0"/>
          </a:p>
        </p:txBody>
      </p:sp>
      <p:sp>
        <p:nvSpPr>
          <p:cNvPr id="31" name="Text 28"/>
          <p:cNvSpPr/>
          <p:nvPr/>
        </p:nvSpPr>
        <p:spPr>
          <a:xfrm>
            <a:off x="6373368" y="4636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660" dirty="0"/>
          </a:p>
        </p:txBody>
      </p:sp>
      <p:sp>
        <p:nvSpPr>
          <p:cNvPr id="32" name="Text 29"/>
          <p:cNvSpPr/>
          <p:nvPr/>
        </p:nvSpPr>
        <p:spPr>
          <a:xfrm>
            <a:off x="6583680" y="46268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sem dono de negócio claro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Roadmap Proposto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sugerida para a Fase 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3291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Opportunities | Second Deployment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65836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" y="3246120"/>
            <a:ext cx="2148840" cy="548640"/>
          </a:xfrm>
          <a:prstGeom prst="rect">
            <a:avLst/>
          </a:prstGeom>
          <a:solidFill>
            <a:srgbClr val="DCFCE7"/>
          </a:solidFill>
          <a:ln w="5715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+ automação de aprovações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3566160" y="1828800"/>
            <a:ext cx="658368" cy="56692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0" y="3246120"/>
            <a:ext cx="2148840" cy="548640"/>
          </a:xfrm>
          <a:prstGeom prst="rect">
            <a:avLst/>
          </a:prstGeom>
          <a:solidFill>
            <a:srgbClr val="EBF7FF"/>
          </a:solidFill>
          <a:ln w="5715">
            <a:solidFill>
              <a:srgbClr val="0094E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Loja online ligada ao stock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6355080" y="1828800"/>
            <a:ext cx="6583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72200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3246120"/>
            <a:ext cx="2148840" cy="548640"/>
          </a:xfrm>
          <a:prstGeom prst="rect">
            <a:avLst/>
          </a:prstGeom>
          <a:solidFill>
            <a:srgbClr val="F3E8FF"/>
          </a:solidFill>
          <a:ln w="5715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Planeamento de produção (MRP)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9144000" y="1828800"/>
            <a:ext cx="65836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61120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Otimização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03920" y="3246120"/>
            <a:ext cx="2148840" cy="548640"/>
          </a:xfrm>
          <a:prstGeom prst="rect">
            <a:avLst/>
          </a:prstGeom>
          <a:solidFill>
            <a:srgbClr val="FFEDD5"/>
          </a:solidFill>
          <a:ln w="5715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Refinamento, integrações e novos KPIs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9966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E2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indicativo — sequência e datas ajustáveis conforme prioridades de negócio. Cada bloco arranca com uma mini Análise ROI.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pic>
        <p:nvPicPr>
          <p:cNvPr id="3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1783080"/>
            <a:ext cx="5943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68680" y="2487168"/>
            <a:ext cx="1600200" cy="50292"/>
          </a:xfrm>
          <a:prstGeom prst="rect">
            <a:avLst/>
          </a:prstGeom>
          <a:solidFill>
            <a:srgbClr val="0094E9"/>
          </a:solidFill>
          <a:ln w="508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96112" y="2743200"/>
            <a:ext cx="8686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Fase 1 entregou resultados acima do esperado. A Fase 2 transforma esses ganhos em vantagem competitiva.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0120" y="3703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70432" y="3694176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prioridades de negócio com os sponsors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960120" y="410565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70432" y="4096512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 quick wins para arranque imediato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60120" y="45079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70432" y="4498848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proposta detalhada de Fase 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960120" y="49103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70432" y="4901184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equipa e calendário do próximo deployment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96112" y="5541264"/>
            <a:ext cx="7132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Contacto: _______________________  ·  Email: _______________________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5080">
            <a:solidFill>
              <a:srgbClr val="151D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Parametro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Opportunities Progress Report</dc:title>
  <dc:subject>Odoo Second Deployment Digital Opportunities Progress Report</dc:subject>
  <dc:creator>Parametro Global</dc:creator>
  <cp:lastModifiedBy>Parametro Global</cp:lastModifiedBy>
  <cp:revision>1</cp:revision>
  <dcterms:created xsi:type="dcterms:W3CDTF">2026-06-02T17:27:24Z</dcterms:created>
  <dcterms:modified xsi:type="dcterms:W3CDTF">2026-06-02T17:27:24Z</dcterms:modified>
</cp:coreProperties>
</file>