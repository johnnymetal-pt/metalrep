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pt_unzip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2697480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084832"/>
            <a:ext cx="676656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94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Kick-Off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04672" y="2852928"/>
            <a:ext cx="6583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Arranque do Projeto de Implementação Odoo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2743200"/>
            <a:ext cx="1600200" cy="50292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Cliente: _______________________      Projeto: _______________________      Data: ____________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4672" y="5074920"/>
            <a:ext cx="88239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Leader (Odoo): _______________________     SPoC (Cliente): _______________________</a:t>
            </a:r>
            <a:endParaRPr lang="en-US" sz="750" dirty="0"/>
          </a:p>
        </p:txBody>
      </p:sp>
      <p:pic>
        <p:nvPicPr>
          <p:cNvPr id="8" name="Image 1" descr="/mnt/data/template_ppt_unzip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11480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1D2B"/>
          </a:solidFill>
          <a:ln w="12700">
            <a:solidFill>
              <a:srgbClr val="151D2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6053328"/>
            <a:ext cx="4572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 Global · Global technology. Local insights.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— 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vamos cobrir nesta sessão de arranque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Project Kick-Off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31520" y="1325880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325880" y="1298448"/>
            <a:ext cx="61264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&amp; visão do projeto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25880" y="1545336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avançamos e o que queremos alcançar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731520" y="1993392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325880" y="1965960"/>
            <a:ext cx="61264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Equipa &amp; responsabilidades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325880" y="2212848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faz o quê (RACI) de ambos os lados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731520" y="2660904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325880" y="2633472"/>
            <a:ext cx="61264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Metodologia Odoo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325880" y="2880360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5 fases e o esforço associado a cada uma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731520" y="3328416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3300984"/>
            <a:ext cx="61264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Âmbito &amp; faseamento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325880" y="3547872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e processos da Fase 1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731520" y="3995928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325880" y="3968496"/>
            <a:ext cx="61264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&amp; calendário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325880" y="4215384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Marcos e datas-chave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731520" y="4663440"/>
            <a:ext cx="384048" cy="38404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325880" y="4636008"/>
            <a:ext cx="61264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de trabalho &amp; próximos passos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325880" y="4882896"/>
            <a:ext cx="6126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Cadência de reuniões, ferramentas e to-dos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7909560" y="1572768"/>
            <a:ext cx="3474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Kick-Off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7909560" y="2487168"/>
            <a:ext cx="3474720" cy="685800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Alinhar objetivos, responsabilidades, cadência e decisões críticas para proteger prazo e orçamento.</a:t>
            </a:r>
            <a:endParaRPr lang="en-US" sz="910" dirty="0"/>
          </a:p>
        </p:txBody>
      </p:sp>
      <p:sp>
        <p:nvSpPr>
          <p:cNvPr id="29" name="Text 26"/>
          <p:cNvSpPr/>
          <p:nvPr/>
        </p:nvSpPr>
        <p:spPr>
          <a:xfrm>
            <a:off x="832104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 esperada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8275320" y="42519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476488" y="4242816"/>
            <a:ext cx="26334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SPoC confirmado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275320" y="45537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476488" y="4544568"/>
            <a:ext cx="26334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Key-users identificados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275320" y="48554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8476488" y="4846320"/>
            <a:ext cx="26334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Workshops agendados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275320" y="51572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476488" y="5148072"/>
            <a:ext cx="26334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e staging prontos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— Objetivos &amp; Visão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pretendemos alcançar com a implementação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Project Kick-Off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685800" y="1417320"/>
            <a:ext cx="5257800" cy="292608"/>
          </a:xfrm>
          <a:prstGeom prst="rect">
            <a:avLst/>
          </a:prstGeom>
          <a:solidFill>
            <a:srgbClr val="FEE2E2"/>
          </a:solidFill>
          <a:ln w="7620">
            <a:solidFill>
              <a:srgbClr val="EF44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estamos hoje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755648"/>
            <a:ext cx="5257800" cy="107899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953" tIns="953" rIns="953" bIns="953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Processos manuais e dispersos por Excel/email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de visibilidade em tempo real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não fiáveis para decisão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263640" y="1417320"/>
            <a:ext cx="5257800" cy="29260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queremos chegar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63640" y="1755648"/>
            <a:ext cx="5257800" cy="107899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953" tIns="953" rIns="953" bIns="953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Processos integrados num único sistema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Visibilidade end-to-end e dados fiáveis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Equipa autónoma na operação Odoo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85800" y="3429000"/>
            <a:ext cx="4754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mensuráveis da Fase 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" y="3794760"/>
            <a:ext cx="1083564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160520"/>
            <a:ext cx="2286000" cy="594360"/>
          </a:xfrm>
          <a:prstGeom prst="rect">
            <a:avLst/>
          </a:prstGeom>
          <a:solidFill>
            <a:srgbClr val="EBF7FF"/>
          </a:solidFill>
          <a:ln w="762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−40%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1005840" y="4892040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de ciclo administrativo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4709160" y="4160520"/>
            <a:ext cx="2286000" cy="594360"/>
          </a:xfrm>
          <a:prstGeom prst="rect">
            <a:avLst/>
          </a:prstGeom>
          <a:solidFill>
            <a:srgbClr val="EBF7FF"/>
          </a:solidFill>
          <a:ln w="762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4709160" y="4892040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 única de informação</a:t>
            </a:r>
            <a:endParaRPr lang="en-US" sz="740" dirty="0"/>
          </a:p>
        </p:txBody>
      </p:sp>
      <p:sp>
        <p:nvSpPr>
          <p:cNvPr id="19" name="Text 16"/>
          <p:cNvSpPr/>
          <p:nvPr/>
        </p:nvSpPr>
        <p:spPr>
          <a:xfrm>
            <a:off x="8412480" y="4160520"/>
            <a:ext cx="2286000" cy="594360"/>
          </a:xfrm>
          <a:prstGeom prst="rect">
            <a:avLst/>
          </a:prstGeom>
          <a:solidFill>
            <a:srgbClr val="EBF7FF"/>
          </a:solidFill>
          <a:ln w="762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8412480" y="4892040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key-users autónomos no go-live</a:t>
            </a:r>
            <a:endParaRPr lang="en-US" sz="740" dirty="0"/>
          </a:p>
        </p:txBody>
      </p:sp>
      <p:sp>
        <p:nvSpPr>
          <p:cNvPr id="21" name="Text 18"/>
          <p:cNvSpPr/>
          <p:nvPr/>
        </p:nvSpPr>
        <p:spPr>
          <a:xfrm>
            <a:off x="914400" y="5715000"/>
            <a:ext cx="10149840" cy="310896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Estes objetivos devem ser confirmados pelo sponsor e pelo SPoC no arranque, para evitar ambiguidades durante a implementação.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— Equipa do Projeto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Papéis e responsabilidades de ambos os lados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Project Kick-Off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685800" y="1325880"/>
            <a:ext cx="2514600" cy="457200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Papel</a:t>
            </a:r>
            <a:endParaRPr lang="en-US" sz="820" dirty="0"/>
          </a:p>
        </p:txBody>
      </p:sp>
      <p:sp>
        <p:nvSpPr>
          <p:cNvPr id="10" name="Text 7"/>
          <p:cNvSpPr/>
          <p:nvPr/>
        </p:nvSpPr>
        <p:spPr>
          <a:xfrm>
            <a:off x="3200400" y="1325880"/>
            <a:ext cx="2286000" cy="457200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5486400" y="1325880"/>
            <a:ext cx="6035040" cy="457200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Responsabilidade principal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685800" y="1783080"/>
            <a:ext cx="251460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Leader (Odoo)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200400" y="1783080"/>
            <a:ext cx="228600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_______________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5486400" y="1783080"/>
            <a:ext cx="603504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Conduz a implementação, planeamento e qualidade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685800" y="2359152"/>
            <a:ext cx="251460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Expert (Odoo)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3200400" y="2359152"/>
            <a:ext cx="228600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_______________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5486400" y="2359152"/>
            <a:ext cx="603504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Configuração funcional e formação dos key-users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685800" y="2935224"/>
            <a:ext cx="251460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SPoC (Cliente)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3200400" y="2935224"/>
            <a:ext cx="228600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_______________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5486400" y="2935224"/>
            <a:ext cx="603504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único de contacto, decisões do dia-a-dia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685800" y="3511296"/>
            <a:ext cx="251460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Key-Users (Cliente)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3200400" y="3511296"/>
            <a:ext cx="228600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_______________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5486400" y="3511296"/>
            <a:ext cx="6035040" cy="576072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Validam processos, testam e formam end-users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685800" y="4087368"/>
            <a:ext cx="251460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Committee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200400" y="4087368"/>
            <a:ext cx="228600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_______________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5486400" y="4087368"/>
            <a:ext cx="6035040" cy="57607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Sponsors — decisões de âmbito, orçamento e prioridade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777240" y="5166360"/>
            <a:ext cx="1280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crítico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2240280" y="5074920"/>
            <a:ext cx="8732520" cy="438912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SPoC é a peça central: centraliza pedidos, prioriza e protege a equipa de ruído. Sem SPoC dedicado, o projeto atrasa.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— Metodologia Odoo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fases — esforço relativo de cada uma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Project Kick-Off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1645920" cy="640080"/>
          </a:xfrm>
          <a:prstGeom prst="rect">
            <a:avLst/>
          </a:prstGeom>
          <a:solidFill>
            <a:srgbClr val="EBF7FF"/>
          </a:solidFill>
          <a:ln w="889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3152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Analysis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2578608" y="2194560"/>
            <a:ext cx="274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971800" y="1920240"/>
            <a:ext cx="1645920" cy="640080"/>
          </a:xfrm>
          <a:prstGeom prst="rect">
            <a:avLst/>
          </a:prstGeom>
          <a:solidFill>
            <a:srgbClr val="FFEDD5"/>
          </a:solidFill>
          <a:ln w="8890"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97180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Kick-Off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4818888" y="2194560"/>
            <a:ext cx="274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212080" y="1920240"/>
            <a:ext cx="1645920" cy="640080"/>
          </a:xfrm>
          <a:prstGeom prst="rect">
            <a:avLst/>
          </a:prstGeom>
          <a:solidFill>
            <a:srgbClr val="DCFCE7"/>
          </a:solidFill>
          <a:ln w="8890"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21208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059168" y="2194560"/>
            <a:ext cx="274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452360" y="1920240"/>
            <a:ext cx="1645920" cy="640080"/>
          </a:xfrm>
          <a:prstGeom prst="rect">
            <a:avLst/>
          </a:prstGeom>
          <a:solidFill>
            <a:srgbClr val="F3E8FF"/>
          </a:solidFill>
          <a:ln w="8890"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45236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Go-Live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9299448" y="2194560"/>
            <a:ext cx="274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692640" y="1920240"/>
            <a:ext cx="1645920" cy="640080"/>
          </a:xfrm>
          <a:prstGeom prst="rect">
            <a:avLst/>
          </a:prstGeom>
          <a:solidFill>
            <a:srgbClr val="F8FAFC"/>
          </a:solidFill>
          <a:ln w="8890">
            <a:solidFill>
              <a:srgbClr val="151D2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var.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69264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 Deployment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86868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Estamos a iniciar o Kick-Off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68680" y="4617720"/>
            <a:ext cx="5212080" cy="566928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implementação concentra 80% do esforço. A disponibilidade do SPoC e dos key-users é o principal fator de velocidade e qualidade.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65379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operacional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37960" y="4617720"/>
            <a:ext cx="4389120" cy="566928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rápidas + standard first + validações semanais = controlo de prazo e budget.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— Âmbito &amp; Faseamento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e processos incluídos na Fase 1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Project Kick-Off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77240" y="1417320"/>
            <a:ext cx="5120640" cy="29260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1 — Incluído (must-have)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1755648"/>
            <a:ext cx="5120640" cy="208483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953" tIns="953" rIns="953" bIns="953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/ CRM — pipeline e propostas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+ Inventory — compras e stock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Accounting — faturação e reconciliação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essencial por departamento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309360" y="1417320"/>
            <a:ext cx="5120640" cy="292608"/>
          </a:xfrm>
          <a:prstGeom prst="rect">
            <a:avLst/>
          </a:prstGeom>
          <a:solidFill>
            <a:srgbClr val="FFEDD5"/>
          </a:solidFill>
          <a:ln w="762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Fora de âmbito (Fase 2+)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309360" y="1755648"/>
            <a:ext cx="5120640" cy="208483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953" tIns="953" rIns="953" bIns="953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/ MRP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e portal de cliente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Integrações com sistemas externos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Automatismos avançados / Studio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6868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Princípio Odoo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68680" y="4800600"/>
            <a:ext cx="10149840" cy="548640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Começar standard, evitar customização precoce. Tudo o que surge fora de âmbito entra no backlog e é repriorizado no Steering Committee.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868680" y="5577840"/>
            <a:ext cx="10149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da Fase 1: colocar a operação core em produção sem dispersar o projeto em nice-to-have.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— Plano &amp; Calendário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Marcos principais da Fase 1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Project Kick-Off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594360" y="1828800"/>
            <a:ext cx="1143000" cy="502920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606040"/>
            <a:ext cx="1417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Kick-Off &amp; Business Analysis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2203704" y="1956816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898648" y="1828800"/>
            <a:ext cx="1143000" cy="502920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S2–S5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61488" y="2606040"/>
            <a:ext cx="1417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Configuração &amp; validação por workstream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4507992" y="1956816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02936" y="1828800"/>
            <a:ext cx="1143000" cy="502920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S6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65776" y="2606040"/>
            <a:ext cx="1417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Importação de dados &amp; testes integrados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812280" y="1956816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507224" y="1828800"/>
            <a:ext cx="1143000" cy="502920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70064" y="2606040"/>
            <a:ext cx="1417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Formação key-users &amp; end-users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9116568" y="1956816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811512" y="1828800"/>
            <a:ext cx="1143000" cy="502920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S8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74352" y="2606040"/>
            <a:ext cx="14173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Go-Live &amp; estabilização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8229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Calendário indicativo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22960" y="4617720"/>
            <a:ext cx="5394960" cy="530352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 finais são confirmadas no Plano de Projeto. Atrasos em validações ou dados são o principal risco ao prazo.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8368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Dependências críticas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629400" y="46451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30" dirty="0"/>
          </a:p>
        </p:txBody>
      </p:sp>
      <p:sp>
        <p:nvSpPr>
          <p:cNvPr id="27" name="Text 24"/>
          <p:cNvSpPr/>
          <p:nvPr/>
        </p:nvSpPr>
        <p:spPr>
          <a:xfrm>
            <a:off x="6830568" y="4636008"/>
            <a:ext cx="40050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Disponibilidade do SPoC</a:t>
            </a:r>
            <a:endParaRPr lang="en-US" sz="730" dirty="0"/>
          </a:p>
        </p:txBody>
      </p:sp>
      <p:sp>
        <p:nvSpPr>
          <p:cNvPr id="28" name="Text 25"/>
          <p:cNvSpPr/>
          <p:nvPr/>
        </p:nvSpPr>
        <p:spPr>
          <a:xfrm>
            <a:off x="6629400" y="49286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30" dirty="0"/>
          </a:p>
        </p:txBody>
      </p:sp>
      <p:sp>
        <p:nvSpPr>
          <p:cNvPr id="29" name="Text 26"/>
          <p:cNvSpPr/>
          <p:nvPr/>
        </p:nvSpPr>
        <p:spPr>
          <a:xfrm>
            <a:off x="6830568" y="4919472"/>
            <a:ext cx="40050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Key-users para validação</a:t>
            </a:r>
            <a:endParaRPr lang="en-US" sz="730" dirty="0"/>
          </a:p>
        </p:txBody>
      </p:sp>
      <p:sp>
        <p:nvSpPr>
          <p:cNvPr id="30" name="Text 27"/>
          <p:cNvSpPr/>
          <p:nvPr/>
        </p:nvSpPr>
        <p:spPr>
          <a:xfrm>
            <a:off x="6629400" y="52120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6830568" y="5202936"/>
            <a:ext cx="40050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para importação</a:t>
            </a:r>
            <a:endParaRPr lang="en-US" sz="730" dirty="0"/>
          </a:p>
        </p:txBody>
      </p:sp>
      <p:sp>
        <p:nvSpPr>
          <p:cNvPr id="32" name="Text 29"/>
          <p:cNvSpPr/>
          <p:nvPr/>
        </p:nvSpPr>
        <p:spPr>
          <a:xfrm>
            <a:off x="6629400" y="54955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30" dirty="0"/>
          </a:p>
        </p:txBody>
      </p:sp>
      <p:sp>
        <p:nvSpPr>
          <p:cNvPr id="33" name="Text 30"/>
          <p:cNvSpPr/>
          <p:nvPr/>
        </p:nvSpPr>
        <p:spPr>
          <a:xfrm>
            <a:off x="6830568" y="5486400"/>
            <a:ext cx="40050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rápidas de âmbito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— Forma de Trabalho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Cadência, ferramentas e regras do jogo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12700">
            <a:solidFill>
              <a:srgbClr val="D5E2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Project Kick-Off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77240" y="1417320"/>
            <a:ext cx="3291840" cy="292608"/>
          </a:xfrm>
          <a:prstGeom prst="rect">
            <a:avLst/>
          </a:prstGeom>
          <a:solidFill>
            <a:srgbClr val="EBF7FF"/>
          </a:solidFill>
          <a:ln w="7620">
            <a:solidFill>
              <a:srgbClr val="0094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Reuniões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1755648"/>
            <a:ext cx="3291840" cy="158191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953" tIns="953" rIns="953" bIns="953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call (60 min) com SPoC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Committee mensal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no fim de cada workstream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434840" y="1417320"/>
            <a:ext cx="3291840" cy="29260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Ferramentas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434840" y="1755648"/>
            <a:ext cx="3291840" cy="158191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953" tIns="953" rIns="953" bIns="953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partilhado (prioridades)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 de staging para testes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Progress Report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092440" y="1417320"/>
            <a:ext cx="3291840" cy="292608"/>
          </a:xfrm>
          <a:prstGeom prst="rect">
            <a:avLst/>
          </a:prstGeom>
          <a:solidFill>
            <a:srgbClr val="FFEDD5"/>
          </a:solidFill>
          <a:ln w="762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do jogo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092440" y="1755648"/>
            <a:ext cx="3291840" cy="1581912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953" tIns="953" rIns="953" bIns="953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via SPoC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antes de custom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Disponibilidade dos key-users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868680" y="4160520"/>
            <a:ext cx="2423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Transparência total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4553712"/>
            <a:ext cx="10149840" cy="658368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Tudo o que é decidido, pedido ou bloqueado fica registado no backlog e no relatório semanal. O objetivo é reduzir ruído, evitar retrabalho e manter uma linha única de decisão.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868680" y="5623560"/>
            <a:ext cx="101498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7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registo = sem compromisso de entrega.</a:t>
            </a:r>
            <a:endParaRPr lang="en-US" sz="7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pt_unzip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2697480" cy="841248"/>
          </a:xfrm>
          <a:prstGeom prst="rect">
            <a:avLst/>
          </a:prstGeom>
        </p:spPr>
      </p:pic>
      <p:pic>
        <p:nvPicPr>
          <p:cNvPr id="3" name="Image 1" descr="/mnt/data/template_ppt_unzip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11480"/>
            <a:ext cx="384048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8680" y="1783080"/>
            <a:ext cx="6583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94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868680" y="2468880"/>
            <a:ext cx="1600200" cy="50292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96112" y="2697480"/>
            <a:ext cx="694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Arrancamos já — alinhamento e disponibilidade são o que faz a diferença.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960120" y="3520440"/>
            <a:ext cx="347472" cy="347472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508760" y="3547872"/>
            <a:ext cx="7498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SPoC e key-users e respetiva disponibilidade</a:t>
            </a:r>
            <a:endParaRPr lang="en-US" sz="1030" dirty="0"/>
          </a:p>
        </p:txBody>
      </p:sp>
      <p:sp>
        <p:nvSpPr>
          <p:cNvPr id="9" name="Text 5"/>
          <p:cNvSpPr/>
          <p:nvPr/>
        </p:nvSpPr>
        <p:spPr>
          <a:xfrm>
            <a:off x="960120" y="4087368"/>
            <a:ext cx="347472" cy="347472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508760" y="4114800"/>
            <a:ext cx="7498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Agendar Business Analysis por workstream</a:t>
            </a:r>
            <a:endParaRPr lang="en-US" sz="1030" dirty="0"/>
          </a:p>
        </p:txBody>
      </p:sp>
      <p:sp>
        <p:nvSpPr>
          <p:cNvPr id="11" name="Text 7"/>
          <p:cNvSpPr/>
          <p:nvPr/>
        </p:nvSpPr>
        <p:spPr>
          <a:xfrm>
            <a:off x="960120" y="4654296"/>
            <a:ext cx="347472" cy="347472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508760" y="4681728"/>
            <a:ext cx="7498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Recolher ficheiros de dados para importação</a:t>
            </a:r>
            <a:endParaRPr lang="en-US" sz="1030" dirty="0"/>
          </a:p>
        </p:txBody>
      </p:sp>
      <p:sp>
        <p:nvSpPr>
          <p:cNvPr id="13" name="Text 9"/>
          <p:cNvSpPr/>
          <p:nvPr/>
        </p:nvSpPr>
        <p:spPr>
          <a:xfrm>
            <a:off x="960120" y="5221224"/>
            <a:ext cx="347472" cy="347472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508760" y="5248656"/>
            <a:ext cx="7498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Aceder ao ambiente de staging e ao backlog</a:t>
            </a:r>
            <a:endParaRPr lang="en-US" sz="1030" dirty="0"/>
          </a:p>
        </p:txBody>
      </p:sp>
      <p:sp>
        <p:nvSpPr>
          <p:cNvPr id="15" name="Text 11"/>
          <p:cNvSpPr/>
          <p:nvPr/>
        </p:nvSpPr>
        <p:spPr>
          <a:xfrm>
            <a:off x="896112" y="5897880"/>
            <a:ext cx="7132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Contacto: _______________________  ·  Email: _______________________</a:t>
            </a:r>
            <a:endParaRPr lang="en-US" sz="780" dirty="0"/>
          </a:p>
        </p:txBody>
      </p:sp>
      <p:sp>
        <p:nvSpPr>
          <p:cNvPr id="16" name="Shap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1D2B"/>
          </a:solidFill>
          <a:ln w="12700">
            <a:solidFill>
              <a:srgbClr val="151D2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Parametro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Kick-Off</dc:title>
  <dc:subject>Odoo Project Kick-Off Presentation</dc:subject>
  <dc:creator>Parametro Global</dc:creator>
  <cp:lastModifiedBy>Parametro Global</cp:lastModifiedBy>
  <cp:revision>1</cp:revision>
  <dcterms:created xsi:type="dcterms:W3CDTF">2026-06-02T17:19:41Z</dcterms:created>
  <dcterms:modified xsi:type="dcterms:W3CDTF">2026-06-02T17:19:41Z</dcterms:modified>
</cp:coreProperties>
</file>