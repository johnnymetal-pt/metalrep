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8"/>
    <p:sldId id="257" r:id="rId9"/>
    <p:sldId id="258" r:id="rId10"/>
    <p:sldId id="259" r:id="rId7"/>
    <p:sldId id="260" r:id="rId6"/>
    <p:sldId id="261" r:id="rId5"/>
    <p:sldId id="262" r:id="rId4"/>
    <p:sldId id="263" r:id="rId3"/>
    <p:sldId id="264" r:id="rId2"/>
    <p:sldId id="265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5EAD67-676A-4C80-A558-EBE71D4EA3BE}" v="29" dt="2026-05-21T17:04:21.801"/>
    <p1510:client id="{1BA4A2A4-5F67-40DA-AA56-D52F350D3A89}" v="28" dt="2026-05-21T16:57:24.512"/>
    <p1510:client id="{62F09C53-768C-4B3D-A5B7-8298012F6E5F}" v="27" dt="2026-05-21T14:56:22.7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5/10/relationships/revisionInfo" Target="revisionInfo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34871-D56C-4D1C-B398-072DDA4ECCDD}" type="datetimeFigureOut">
              <a:t>21/05/2026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898942-0D18-4810-8885-E1D42E0B78B3}" type="slidenum"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4264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RAMETRO_CONTEN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7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_logo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00" y="604800"/>
            <a:ext cx="3092400" cy="6250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3200" y="1976400"/>
            <a:ext cx="6217200" cy="5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099FF"/>
                </a:solidFill>
                <a:latin typeface="Aptos Display"/>
              </a:defRPr>
            </a:pPr>
            <a:r>
              <a:t>Ponto de Situação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3200" y="2671200"/>
            <a:ext cx="7020000" cy="36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11827"/>
                </a:solidFill>
                <a:latin typeface="Aptos Display"/>
              </a:defRPr>
            </a:pPr>
            <a:r>
              <a:t>Implementação Odoo 19 Enterprise (Odoo.sh) — Reckon.ai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3200" y="3171600"/>
            <a:ext cx="7020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0">
                <a:solidFill>
                  <a:srgbClr val="4B5563"/>
                </a:solidFill>
                <a:latin typeface="Aptos"/>
              </a:defRPr>
            </a:pPr>
            <a:r>
              <a:t>Balanço integral do projeto desde o arranque: base funcional levantada, execução suspensa à espera de decisões do cliente.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200" y="4701600"/>
            <a:ext cx="7200000" cy="66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sz="1000" b="0">
                <a:solidFill>
                  <a:srgbClr val="111827"/>
                </a:solidFill>
                <a:latin typeface="Aptos"/>
              </a:defRPr>
            </a:pPr>
            <a:r>
              <a:t>Cliente: RK.AI — Reckon.ai</a:t>
            </a:r>
          </a:p>
          <a:p>
            <a:pPr>
              <a:lnSpc>
                <a:spcPct val="130000"/>
              </a:lnSpc>
              <a:defRPr sz="1000" b="0">
                <a:solidFill>
                  <a:srgbClr val="111827"/>
                </a:solidFill>
                <a:latin typeface="Aptos"/>
              </a:defRPr>
            </a:pPr>
            <a:r>
              <a:t>Data: 22 de setembro de 2026</a:t>
            </a:r>
          </a:p>
          <a:p>
            <a:pPr>
              <a:lnSpc>
                <a:spcPct val="130000"/>
              </a:lnSpc>
              <a:defRPr sz="1000" b="0">
                <a:solidFill>
                  <a:srgbClr val="111827"/>
                </a:solidFill>
                <a:latin typeface="Aptos"/>
              </a:defRPr>
            </a:pPr>
            <a:r>
              <a:t>Período: totalidade do projeto — 7 de julho a 22 de setembro de 2026</a:t>
            </a:r>
          </a:p>
          <a:p>
            <a:pPr>
              <a:lnSpc>
                <a:spcPct val="130000"/>
              </a:lnSpc>
              <a:defRPr sz="1000" b="0">
                <a:solidFill>
                  <a:srgbClr val="111827"/>
                </a:solidFill>
                <a:latin typeface="Aptos"/>
              </a:defRPr>
            </a:pPr>
            <a:r>
              <a:t>Consultor responsável: Cláudio Pereira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3200" y="5594400"/>
            <a:ext cx="2743200" cy="20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Aptos"/>
              </a:defRPr>
            </a:pPr>
            <a:r>
              <a:t>Preparado por Parâmetro Global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400"/>
            <a:ext cx="12192119" cy="237600"/>
          </a:xfrm>
          <a:prstGeom prst="rect">
            <a:avLst/>
          </a:prstGeom>
          <a:solidFill>
            <a:srgbClr val="11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349200"/>
            <a:ext cx="8776800" cy="38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11827"/>
                </a:solidFill>
                <a:latin typeface="Aptos Display"/>
              </a:defRPr>
            </a:pPr>
            <a:r>
              <a:t>1. Resumo executivo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806400"/>
            <a:ext cx="6858000" cy="18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80" b="0">
                <a:solidFill>
                  <a:srgbClr val="64748B"/>
                </a:solidFill>
                <a:latin typeface="Aptos"/>
              </a:defRPr>
            </a:pPr>
            <a:r>
              <a:t>Áreas trabalhadas no período e foco principal dos trabalhos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5200" y="1033200"/>
            <a:ext cx="11293200" cy="0"/>
          </a:xfrm>
          <a:prstGeom prst="rect">
            <a:avLst/>
          </a:prstGeom>
          <a:noFill/>
          <a:ln w="1270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g_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7600" y="262800"/>
            <a:ext cx="543600" cy="543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5200" y="6328799"/>
            <a:ext cx="11293200" cy="0"/>
          </a:xfrm>
          <a:prstGeom prst="rect">
            <a:avLst/>
          </a:prstGeom>
          <a:noFill/>
          <a:ln w="1270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5200" y="6429600"/>
            <a:ext cx="4320000" cy="14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0">
                <a:solidFill>
                  <a:srgbClr val="64748B"/>
                </a:solidFill>
                <a:latin typeface="Aptos"/>
              </a:defRPr>
            </a:pPr>
            <a:r>
              <a:t>Ponto de Situação · RK.AI — Reckon.ai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58000" y="6400800"/>
            <a:ext cx="320400" cy="183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00" b="1">
                <a:solidFill>
                  <a:srgbClr val="009FE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800" y="1389600"/>
            <a:ext cx="3526800" cy="1044000"/>
          </a:xfrm>
          <a:prstGeom prst="rect">
            <a:avLst/>
          </a:prstGeom>
          <a:solidFill>
            <a:srgbClr val="FFFFFF"/>
          </a:solidFill>
          <a:ln w="1524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800" y="1389600"/>
            <a:ext cx="3526800" cy="36000"/>
          </a:xfrm>
          <a:prstGeom prst="rect">
            <a:avLst/>
          </a:prstGeom>
          <a:solidFill>
            <a:srgbClr val="009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800" y="1612799"/>
            <a:ext cx="3130800" cy="413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Aptos Display"/>
              </a:defRPr>
            </a:pPr>
            <a:r>
              <a:t>61h15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6800" y="2091599"/>
            <a:ext cx="31308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0">
                <a:solidFill>
                  <a:srgbClr val="64748B"/>
                </a:solidFill>
                <a:latin typeface="Aptos"/>
              </a:defRPr>
            </a:pPr>
            <a:r>
              <a:t>Horas registadas no período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6800" y="1389600"/>
            <a:ext cx="3526800" cy="1044000"/>
          </a:xfrm>
          <a:prstGeom prst="rect">
            <a:avLst/>
          </a:prstGeom>
          <a:solidFill>
            <a:srgbClr val="FFFFFF"/>
          </a:solidFill>
          <a:ln w="1524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6800" y="1389600"/>
            <a:ext cx="3526800" cy="36000"/>
          </a:xfrm>
          <a:prstGeom prst="rect">
            <a:avLst/>
          </a:prstGeom>
          <a:solidFill>
            <a:srgbClr val="009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4800" y="1612799"/>
            <a:ext cx="3130800" cy="413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Aptos Display"/>
              </a:defRPr>
            </a:pPr>
            <a: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4800" y="2091599"/>
            <a:ext cx="31308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0">
                <a:solidFill>
                  <a:srgbClr val="64748B"/>
                </a:solidFill>
                <a:latin typeface="Aptos"/>
              </a:defRPr>
            </a:pPr>
            <a:r>
              <a:t>Áreas com atividade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4800" y="1389600"/>
            <a:ext cx="3526800" cy="1044000"/>
          </a:xfrm>
          <a:prstGeom prst="rect">
            <a:avLst/>
          </a:prstGeom>
          <a:solidFill>
            <a:srgbClr val="FFFFFF"/>
          </a:solidFill>
          <a:ln w="1524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4800" y="1389600"/>
            <a:ext cx="3526800" cy="36000"/>
          </a:xfrm>
          <a:prstGeom prst="rect">
            <a:avLst/>
          </a:prstGeom>
          <a:solidFill>
            <a:srgbClr val="009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2800" y="1612799"/>
            <a:ext cx="3130800" cy="413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Aptos Display"/>
              </a:defRPr>
            </a:pPr>
            <a:r>
              <a:t>Realinhamento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2800" y="2091599"/>
            <a:ext cx="31308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0">
                <a:solidFill>
                  <a:srgbClr val="64748B"/>
                </a:solidFill>
                <a:latin typeface="Aptos"/>
              </a:defRPr>
            </a:pPr>
            <a:r>
              <a:t>Fase atual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800" y="2739600"/>
            <a:ext cx="10882800" cy="93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defRPr sz="1200" b="0">
                <a:solidFill>
                  <a:srgbClr val="111827"/>
                </a:solidFill>
                <a:latin typeface="Aptos"/>
              </a:defRPr>
            </a:pPr>
            <a:r>
              <a:t>Este ponto de situação cobre a totalidade do projeto, desde o arranque a 7 de julho. Os trabalhos concentraram-se no levantamento de requisitos por área funcional, na preparação dos ambientes de testes e de produção e no arranque da faturação certificada portuguesa. A base funcional está construída e o ambiente de produção disponibilizado. Desde 9 de setembro, porém, não há execução imputada ao projeto: as frentes seguintes dependem de decisões do lado do cliente e do fecho do âmbito v1.2. É esse realinhamento que motiva a presente sessão.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800" y="3890159"/>
            <a:ext cx="6480000" cy="23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009FE3"/>
                </a:solidFill>
                <a:latin typeface="Aptos"/>
              </a:defRPr>
            </a:pPr>
            <a:r>
              <a:t>Os trabalhos focaram-se maioritariamente 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800" y="4196160"/>
            <a:ext cx="10738800" cy="227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1100" b="0">
                <a:solidFill>
                  <a:srgbClr val="111827"/>
                </a:solidFill>
                <a:latin typeface="Aptos"/>
              </a:defRPr>
            </a:pPr>
            <a:r>
              <a:t>• levantamento e validação do circuito de Supply Chain, aprovisionamento e produção;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0800" y="4488479"/>
            <a:ext cx="10738800" cy="227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1100" b="0">
                <a:solidFill>
                  <a:srgbClr val="111827"/>
                </a:solidFill>
                <a:latin typeface="Aptos"/>
              </a:defRPr>
            </a:pPr>
            <a:r>
              <a:t>• desenho da área comercial e migração do CRM a partir do Pipedrive;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800" y="4780799"/>
            <a:ext cx="10738800" cy="227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1100" b="0">
                <a:solidFill>
                  <a:srgbClr val="111827"/>
                </a:solidFill>
                <a:latin typeface="Aptos"/>
              </a:defRPr>
            </a:pPr>
            <a:r>
              <a:t>• preparação do ambiente de produção e dos requisitos da faturação certificada.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800" y="5271119"/>
            <a:ext cx="10882800" cy="612000"/>
          </a:xfrm>
          <a:prstGeom prst="rect">
            <a:avLst/>
          </a:prstGeom>
          <a:solidFill>
            <a:srgbClr val="F5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0400" y="5548319"/>
            <a:ext cx="10479600" cy="14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11827"/>
                </a:solidFill>
                <a:latin typeface="Aptos"/>
              </a:defRPr>
            </a:pPr>
            <a:r>
              <a:t>O projeto tem base funcional sólida, mas está parado há duas semanas. A bolsa de 40 horas contratada está consumida (49 horas entregues) e restam cerca de 66h30 estimadas nas frentes por concluir. O desbloqueio passa por quatro decisões do cliente e pelo fecho do âmbito v1.2.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349200"/>
            <a:ext cx="8776800" cy="38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11827"/>
                </a:solidFill>
                <a:latin typeface="Aptos Display"/>
              </a:defRPr>
            </a:pPr>
            <a:r>
              <a:t>2. Trabalhos realizados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806400"/>
            <a:ext cx="6858000" cy="18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80" b="0">
                <a:solidFill>
                  <a:srgbClr val="64748B"/>
                </a:solidFill>
                <a:latin typeface="Aptos"/>
              </a:defRPr>
            </a:pPr>
            <a:r>
              <a:t>Detalhe das atividades por área funcional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85200" y="1033200"/>
            <a:ext cx="11293200" cy="0"/>
          </a:xfrm>
          <a:prstGeom prst="rect">
            <a:avLst/>
          </a:prstGeom>
          <a:noFill/>
          <a:ln w="1270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g_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7600" y="262800"/>
            <a:ext cx="543600" cy="543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5200" y="6328799"/>
            <a:ext cx="11293200" cy="0"/>
          </a:xfrm>
          <a:prstGeom prst="rect">
            <a:avLst/>
          </a:prstGeom>
          <a:noFill/>
          <a:ln w="1270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5200" y="6429600"/>
            <a:ext cx="4320000" cy="14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0">
                <a:solidFill>
                  <a:srgbClr val="64748B"/>
                </a:solidFill>
                <a:latin typeface="Aptos"/>
              </a:defRPr>
            </a:pPr>
            <a:r>
              <a:t>Ponto de Situação · RK.AI — Reckon.ai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58000" y="6400800"/>
            <a:ext cx="320400" cy="183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00" b="1">
                <a:solidFill>
                  <a:srgbClr val="009FE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800" y="1389600"/>
            <a:ext cx="3526800" cy="3368160"/>
          </a:xfrm>
          <a:prstGeom prst="rect">
            <a:avLst/>
          </a:prstGeom>
          <a:solidFill>
            <a:srgbClr val="FFFFFF"/>
          </a:solidFill>
          <a:ln w="1524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800" y="1389600"/>
            <a:ext cx="3526800" cy="36000"/>
          </a:xfrm>
          <a:prstGeom prst="rect">
            <a:avLst/>
          </a:prstGeom>
          <a:solidFill>
            <a:srgbClr val="009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800" y="1587600"/>
            <a:ext cx="3130800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111827"/>
                </a:solidFill>
                <a:latin typeface="Aptos"/>
              </a:defRPr>
            </a:pPr>
            <a:r>
              <a:t>Supply Chain, aprovisionamento e produção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6800" y="203760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0">
                <a:solidFill>
                  <a:srgbClr val="64748B"/>
                </a:solidFill>
                <a:latin typeface="Aptos"/>
              </a:defRPr>
            </a:pPr>
            <a:r>
              <a:t>Área com maior peso no período, do levantamento inicial até à validação do circuito com os responsáveis.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6800" y="251784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sessão de trabalho dedicada com o responsável de operações, a 20 de julho;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6800" y="289368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análise funcional e técnica do circuito de produção e aprovisionamento;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800" y="3269520"/>
            <a:ext cx="3130800" cy="180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carregamento dos dados reais no ambiente de validação;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800" y="348624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sessão de validação do circuito, a 19 de agosto, com consolidação das decisões;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800" y="386208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sessão de seguimento a 9 de setembro, sobre planeamento mestre e armazém;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800" y="423792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verificação das regras de cálculo de datas no código-fonte do Odoo 19.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6800" y="1389600"/>
            <a:ext cx="3526800" cy="3368160"/>
          </a:xfrm>
          <a:prstGeom prst="rect">
            <a:avLst/>
          </a:prstGeom>
          <a:solidFill>
            <a:srgbClr val="FFFFFF"/>
          </a:solidFill>
          <a:ln w="1524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6800" y="1389600"/>
            <a:ext cx="3526800" cy="36000"/>
          </a:xfrm>
          <a:prstGeom prst="rect">
            <a:avLst/>
          </a:prstGeom>
          <a:solidFill>
            <a:srgbClr val="009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4800" y="1587600"/>
            <a:ext cx="3130800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111827"/>
                </a:solidFill>
                <a:latin typeface="Aptos"/>
              </a:defRPr>
            </a:pPr>
            <a:r>
              <a:t>Comercial e CRM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4800" y="203760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0">
                <a:solidFill>
                  <a:srgbClr val="64748B"/>
                </a:solidFill>
                <a:latin typeface="Aptos"/>
              </a:defRPr>
            </a:pPr>
            <a:r>
              <a:t>Desenho do processo comercial e migração do histórico a partir do Pipedrive.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4800" y="2517840"/>
            <a:ext cx="3130800" cy="180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sessão de trabalho de CRM e Vendas com o responsável da área;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4800" y="273456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migração das oportunidades e leads exportadas do Pipedrive para a base de testes;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4800" y="3110400"/>
            <a:ext cx="3130800" cy="180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correção da ligação aos contactos nos registos migrados;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4800" y="332712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configuração das etapas, indicadores e automatismos validados pelo cliente;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4800" y="370296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especificação dos pré-requisitos de telefonia para registo automático de chamadas.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14800" y="1389600"/>
            <a:ext cx="3526800" cy="3368160"/>
          </a:xfrm>
          <a:prstGeom prst="rect">
            <a:avLst/>
          </a:prstGeom>
          <a:solidFill>
            <a:srgbClr val="FFFFFF"/>
          </a:solidFill>
          <a:ln w="1524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14800" y="1389600"/>
            <a:ext cx="3526800" cy="36000"/>
          </a:xfrm>
          <a:prstGeom prst="rect">
            <a:avLst/>
          </a:prstGeom>
          <a:solidFill>
            <a:srgbClr val="009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12800" y="1587600"/>
            <a:ext cx="3130800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111827"/>
                </a:solidFill>
                <a:latin typeface="Aptos"/>
              </a:defRPr>
            </a:pPr>
            <a:r>
              <a:t>Arranque e âmbito do projeto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2800" y="203760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0">
                <a:solidFill>
                  <a:srgbClr val="64748B"/>
                </a:solidFill>
                <a:latin typeface="Aptos"/>
              </a:defRPr>
            </a:pPr>
            <a:r>
              <a:t>Enquadramento inicial dos trabalhos e alinhamento do modo de trabalho com o cliente.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2800" y="2517840"/>
            <a:ext cx="3130800" cy="180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reunião inicial de descoberta, a 10 de julho;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2800" y="273456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reunião alargada de levantamento de requisitos, a 16 de julho;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2800" y="311040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apuramento das horas entregues face ao pacote contratado e resposta ao novo modo de trabalho;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2800" y="348624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lista das configurações que aguardam autorização, com consequência e prazo de resposta.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349200"/>
            <a:ext cx="8776800" cy="38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11827"/>
                </a:solidFill>
                <a:latin typeface="Aptos Display"/>
              </a:defRPr>
            </a:pPr>
            <a:r>
              <a:t>2. Trabalhos realizados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806400"/>
            <a:ext cx="6858000" cy="18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80" b="0">
                <a:solidFill>
                  <a:srgbClr val="64748B"/>
                </a:solidFill>
                <a:latin typeface="Aptos"/>
              </a:defRPr>
            </a:pPr>
            <a:r>
              <a:t>Detalhe das atividades por área funcional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85200" y="1033200"/>
            <a:ext cx="11293200" cy="0"/>
          </a:xfrm>
          <a:prstGeom prst="rect">
            <a:avLst/>
          </a:prstGeom>
          <a:noFill/>
          <a:ln w="1270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g_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7600" y="262800"/>
            <a:ext cx="543600" cy="543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5200" y="6328799"/>
            <a:ext cx="11293200" cy="0"/>
          </a:xfrm>
          <a:prstGeom prst="rect">
            <a:avLst/>
          </a:prstGeom>
          <a:noFill/>
          <a:ln w="1270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5200" y="6429600"/>
            <a:ext cx="4320000" cy="14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0">
                <a:solidFill>
                  <a:srgbClr val="64748B"/>
                </a:solidFill>
                <a:latin typeface="Aptos"/>
              </a:defRPr>
            </a:pPr>
            <a:r>
              <a:t>Ponto de Situação · RK.AI — Reckon.ai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58000" y="6400800"/>
            <a:ext cx="320400" cy="183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00" b="1">
                <a:solidFill>
                  <a:srgbClr val="009FE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800" y="1389600"/>
            <a:ext cx="3526800" cy="352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800" y="1389600"/>
            <a:ext cx="3526800" cy="36000"/>
          </a:xfrm>
          <a:prstGeom prst="rect">
            <a:avLst/>
          </a:prstGeom>
          <a:solidFill>
            <a:srgbClr val="009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800" y="1587600"/>
            <a:ext cx="3130800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111827"/>
                </a:solidFill>
                <a:latin typeface="Aptos"/>
              </a:defRPr>
            </a:pPr>
            <a:r>
              <a:t>Faturação certificada e área financeira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6800" y="203760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0">
                <a:solidFill>
                  <a:srgbClr val="64748B"/>
                </a:solidFill>
                <a:latin typeface="Aptos"/>
              </a:defRPr>
            </a:pPr>
            <a:r>
              <a:t>Preparação dos requisitos legais da faturação em Portugal e do plano de contas.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6800" y="251784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replicação da localização fiscal portuguesa certificada no ambiente de testes;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6800" y="289368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análise do guia de recolha da Certificação AT devolvido pelo cliente;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800" y="326952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registo das credenciais do sub-utilizador do Portal das Finanças;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800" y="364536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sessão de trabalho com a direção financeira sobre a configuração da faturação;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800" y="402120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triagem conta a conta das 787 contas do plano enviado pela contabilidade;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800" y="439704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receção do código de ativação da localização PT+ (Exo), a 14 de setembro.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6800" y="1389600"/>
            <a:ext cx="3526800" cy="352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6800" y="1389600"/>
            <a:ext cx="3526800" cy="36000"/>
          </a:xfrm>
          <a:prstGeom prst="rect">
            <a:avLst/>
          </a:prstGeom>
          <a:solidFill>
            <a:srgbClr val="009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4800" y="1587600"/>
            <a:ext cx="3130800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111827"/>
                </a:solidFill>
                <a:latin typeface="Aptos"/>
              </a:defRPr>
            </a:pPr>
            <a:r>
              <a:t>Ambientes e infraestrutura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4800" y="203760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0">
                <a:solidFill>
                  <a:srgbClr val="64748B"/>
                </a:solidFill>
                <a:latin typeface="Aptos"/>
              </a:defRPr>
            </a:pPr>
            <a:r>
              <a:t>Preparação do ambiente de demonstração, do ambiente de testes e da passagem a produção.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4800" y="251784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configuração de um ambiente de demonstração em Odoo 19 Enterprise;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4800" y="2893680"/>
            <a:ext cx="3130800" cy="180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análise do pedido de arranque do ambiente definitivo;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4800" y="3110400"/>
            <a:ext cx="3130800" cy="180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promoção dos addons do ambiente de testes para produção;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4800" y="332712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levantamento técnico do ambiente de produção, com inventário de aplicações, utilizadores e dados mestre.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14800" y="1389600"/>
            <a:ext cx="3526800" cy="352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4800" y="1389600"/>
            <a:ext cx="3526800" cy="36000"/>
          </a:xfrm>
          <a:prstGeom prst="rect">
            <a:avLst/>
          </a:prstGeom>
          <a:solidFill>
            <a:srgbClr val="009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2800" y="1587600"/>
            <a:ext cx="3130800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111827"/>
                </a:solidFill>
                <a:latin typeface="Aptos"/>
              </a:defRPr>
            </a:pPr>
            <a:r>
              <a:t>Recursos humanos e portal de ausências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2800" y="203760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0">
                <a:solidFill>
                  <a:srgbClr val="64748B"/>
                </a:solidFill>
                <a:latin typeface="Aptos"/>
              </a:defRPr>
            </a:pPr>
            <a:r>
              <a:t>Disponibilização do portal de pedidos de ausência para validação do cliente.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2800" y="251784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disponibilização do módulo de portal de ausências no ambiente de testes;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2800" y="2893680"/>
            <a:ext cx="3130800" cy="180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alinhamento sobre o acesso dos colaboradores pelo portal;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2800" y="311040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análise e resposta às questões de teste colocadas pelo cliente.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349200"/>
            <a:ext cx="8776800" cy="38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11827"/>
                </a:solidFill>
                <a:latin typeface="Aptos Display"/>
              </a:defRPr>
            </a:pPr>
            <a:r>
              <a:t>2. Trabalhos realizados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806400"/>
            <a:ext cx="6858000" cy="18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80" b="0">
                <a:solidFill>
                  <a:srgbClr val="64748B"/>
                </a:solidFill>
                <a:latin typeface="Aptos"/>
              </a:defRPr>
            </a:pPr>
            <a:r>
              <a:t>Detalhe das atividades por área funcional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85200" y="1033200"/>
            <a:ext cx="11293200" cy="0"/>
          </a:xfrm>
          <a:prstGeom prst="rect">
            <a:avLst/>
          </a:prstGeom>
          <a:noFill/>
          <a:ln w="1270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g_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7600" y="262800"/>
            <a:ext cx="543600" cy="543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5200" y="6328799"/>
            <a:ext cx="11293200" cy="0"/>
          </a:xfrm>
          <a:prstGeom prst="rect">
            <a:avLst/>
          </a:prstGeom>
          <a:noFill/>
          <a:ln w="1270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5200" y="6429600"/>
            <a:ext cx="4320000" cy="14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0">
                <a:solidFill>
                  <a:srgbClr val="64748B"/>
                </a:solidFill>
                <a:latin typeface="Aptos"/>
              </a:defRPr>
            </a:pPr>
            <a:r>
              <a:t>Ponto de Situação · RK.AI — Reckon.ai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58000" y="6400800"/>
            <a:ext cx="320400" cy="183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00" b="1">
                <a:solidFill>
                  <a:srgbClr val="009FE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800" y="1389600"/>
            <a:ext cx="3526800" cy="2616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800" y="1389600"/>
            <a:ext cx="3526800" cy="36000"/>
          </a:xfrm>
          <a:prstGeom prst="rect">
            <a:avLst/>
          </a:prstGeom>
          <a:solidFill>
            <a:srgbClr val="009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800" y="1587600"/>
            <a:ext cx="3130800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111827"/>
                </a:solidFill>
                <a:latin typeface="Aptos"/>
              </a:defRPr>
            </a:pPr>
            <a:r>
              <a:t>Helpdesk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6800" y="203760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0">
                <a:solidFill>
                  <a:srgbClr val="64748B"/>
                </a:solidFill>
                <a:latin typeface="Aptos"/>
              </a:defRPr>
            </a:pPr>
            <a:r>
              <a:t>Levantamento do processo de suporte e preparação da primeira fase de configuração.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6800" y="2517840"/>
            <a:ext cx="3130800" cy="180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sessão de trabalho de Helpdesk, com elaboração do relatório;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6800" y="2734560"/>
            <a:ext cx="3130800" cy="180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preparação do ambiente de testes para a sessão de suporte;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800" y="2951280"/>
            <a:ext cx="3130800" cy="180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verificação técnica das questões que ficaram em aberto.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6800" y="1389600"/>
            <a:ext cx="3526800" cy="2616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6800" y="1389600"/>
            <a:ext cx="3526800" cy="36000"/>
          </a:xfrm>
          <a:prstGeom prst="rect">
            <a:avLst/>
          </a:prstGeom>
          <a:solidFill>
            <a:srgbClr val="009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4800" y="1587600"/>
            <a:ext cx="3130800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111827"/>
                </a:solidFill>
                <a:latin typeface="Aptos"/>
              </a:defRPr>
            </a:pPr>
            <a:r>
              <a:t>Gestão de projeto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4800" y="203760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0">
                <a:solidFill>
                  <a:srgbClr val="64748B"/>
                </a:solidFill>
                <a:latin typeface="Aptos"/>
              </a:defRPr>
            </a:pPr>
            <a:r>
              <a:t>Acompanhamento periódico, comunicação com o cliente e convocatória do presente realinhamento.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4800" y="2517840"/>
            <a:ext cx="3130800" cy="180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pontos de situação de 27 e 31 de julho e de 7 e 14 de agosto;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4800" y="273456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reposição integral do ambiente de trabalho após a eliminação do projeto;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4800" y="311040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adiamento das sessões de formação pedidas, por indisponibilidade de recursos, a 14 de setembro;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4800" y="348624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convocatória da presente sessão de realinhamento, a 18 de setembro.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14800" y="1389600"/>
            <a:ext cx="3526800" cy="2616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14800" y="1389600"/>
            <a:ext cx="3526800" cy="36000"/>
          </a:xfrm>
          <a:prstGeom prst="rect">
            <a:avLst/>
          </a:prstGeom>
          <a:solidFill>
            <a:srgbClr val="009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2800" y="1587600"/>
            <a:ext cx="3130800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111827"/>
                </a:solidFill>
                <a:latin typeface="Aptos"/>
              </a:defRPr>
            </a:pPr>
            <a:r>
              <a:t>Gestão do trabalho e transição do ClickUp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2800" y="203760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0">
                <a:solidFill>
                  <a:srgbClr val="64748B"/>
                </a:solidFill>
                <a:latin typeface="Aptos"/>
              </a:defRPr>
            </a:pPr>
            <a:r>
              <a:t>Levantamento da ferramenta em uso, como base da transição para o Odoo.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2800" y="2517840"/>
            <a:ext cx="3130800" cy="339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• levantamento integral da ferramenta de gestão de trabalho em uso.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349200"/>
            <a:ext cx="8776800" cy="38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11827"/>
                </a:solidFill>
                <a:latin typeface="Aptos Display"/>
              </a:defRPr>
            </a:pPr>
            <a:r>
              <a:t>3. Carga horária registada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806400"/>
            <a:ext cx="6858000" cy="18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80" b="0">
                <a:solidFill>
                  <a:srgbClr val="64748B"/>
                </a:solidFill>
                <a:latin typeface="Aptos"/>
              </a:defRPr>
            </a:pPr>
            <a:r>
              <a:t>Distribuição do esforço no período · fonte: timesheets do projeto no Odoo de gestão da Parâmetro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85200" y="1033200"/>
            <a:ext cx="11293200" cy="0"/>
          </a:xfrm>
          <a:prstGeom prst="rect">
            <a:avLst/>
          </a:prstGeom>
          <a:noFill/>
          <a:ln w="1270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g_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7600" y="262800"/>
            <a:ext cx="543600" cy="543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5200" y="6328799"/>
            <a:ext cx="11293200" cy="0"/>
          </a:xfrm>
          <a:prstGeom prst="rect">
            <a:avLst/>
          </a:prstGeom>
          <a:noFill/>
          <a:ln w="1270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5200" y="6429600"/>
            <a:ext cx="4320000" cy="14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0">
                <a:solidFill>
                  <a:srgbClr val="64748B"/>
                </a:solidFill>
                <a:latin typeface="Aptos"/>
              </a:defRPr>
            </a:pPr>
            <a:r>
              <a:t>Ponto de Situação · RK.AI — Reckon.ai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58000" y="6400800"/>
            <a:ext cx="320400" cy="183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00" b="1">
                <a:solidFill>
                  <a:srgbClr val="009FE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800" y="1389600"/>
            <a:ext cx="10882800" cy="827999"/>
          </a:xfrm>
          <a:prstGeom prst="rect">
            <a:avLst/>
          </a:prstGeom>
          <a:solidFill>
            <a:srgbClr val="FFFFFF"/>
          </a:solidFill>
          <a:ln w="1524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800" y="1389600"/>
            <a:ext cx="10882800" cy="36000"/>
          </a:xfrm>
          <a:prstGeom prst="rect">
            <a:avLst/>
          </a:prstGeom>
          <a:solidFill>
            <a:srgbClr val="009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800" y="1612799"/>
            <a:ext cx="10486800" cy="413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Aptos Display"/>
              </a:defRPr>
            </a:pPr>
            <a:r>
              <a:t>61h15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6800" y="2091599"/>
            <a:ext cx="104868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0">
                <a:solidFill>
                  <a:srgbClr val="64748B"/>
                </a:solidFill>
                <a:latin typeface="Aptos"/>
              </a:defRPr>
            </a:pPr>
            <a:r>
              <a:t>Total de horas registadas no período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800" y="2451600"/>
            <a:ext cx="5040000" cy="23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009FE3"/>
                </a:solidFill>
                <a:latin typeface="Aptos"/>
              </a:defRPr>
            </a:pPr>
            <a:r>
              <a:t>Distribuição por área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800" y="2761200"/>
            <a:ext cx="2819520" cy="1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111827"/>
                </a:solidFill>
                <a:latin typeface="Aptos"/>
              </a:defRPr>
            </a:pPr>
            <a:r>
              <a:t>Supply Chain e produção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22320" y="2739600"/>
            <a:ext cx="2580480" cy="167024"/>
          </a:xfrm>
          <a:prstGeom prst="rect">
            <a:avLst/>
          </a:prstGeom>
          <a:solidFill>
            <a:srgbClr val="F5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22320" y="2739600"/>
            <a:ext cx="2580480" cy="167024"/>
          </a:xfrm>
          <a:prstGeom prst="rect">
            <a:avLst/>
          </a:prstGeom>
          <a:solidFill>
            <a:srgbClr val="009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8800" y="2761200"/>
            <a:ext cx="1368000" cy="1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111827"/>
                </a:solidFill>
                <a:latin typeface="Aptos"/>
              </a:defRPr>
            </a:pPr>
            <a:r>
              <a:t>19h45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800" y="3140800"/>
            <a:ext cx="2819520" cy="1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111827"/>
                </a:solidFill>
                <a:latin typeface="Aptos"/>
              </a:defRPr>
            </a:pPr>
            <a:r>
              <a:t>Comercial e CRM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22320" y="3119200"/>
            <a:ext cx="2580480" cy="167024"/>
          </a:xfrm>
          <a:prstGeom prst="rect">
            <a:avLst/>
          </a:prstGeom>
          <a:solidFill>
            <a:srgbClr val="F5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22320" y="3119200"/>
            <a:ext cx="1208579" cy="167024"/>
          </a:xfrm>
          <a:prstGeom prst="rect">
            <a:avLst/>
          </a:prstGeom>
          <a:solidFill>
            <a:srgbClr val="009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8800" y="3140800"/>
            <a:ext cx="1368000" cy="1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111827"/>
                </a:solidFill>
                <a:latin typeface="Aptos"/>
              </a:defRPr>
            </a:pPr>
            <a:r>
              <a:t>9h15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800" y="3520400"/>
            <a:ext cx="2819520" cy="1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111827"/>
                </a:solidFill>
                <a:latin typeface="Aptos"/>
              </a:defRPr>
            </a:pPr>
            <a:r>
              <a:t>Arranque e âmbito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22320" y="3498800"/>
            <a:ext cx="2580480" cy="167024"/>
          </a:xfrm>
          <a:prstGeom prst="rect">
            <a:avLst/>
          </a:prstGeom>
          <a:solidFill>
            <a:srgbClr val="F5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22320" y="3498800"/>
            <a:ext cx="947264" cy="167024"/>
          </a:xfrm>
          <a:prstGeom prst="rect">
            <a:avLst/>
          </a:prstGeom>
          <a:solidFill>
            <a:srgbClr val="009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8800" y="3520400"/>
            <a:ext cx="1368000" cy="1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111827"/>
                </a:solidFill>
                <a:latin typeface="Aptos"/>
              </a:defRPr>
            </a:pPr>
            <a:r>
              <a:t>7h15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800" y="3900000"/>
            <a:ext cx="2819520" cy="1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111827"/>
                </a:solidFill>
                <a:latin typeface="Aptos"/>
              </a:defRPr>
            </a:pPr>
            <a:r>
              <a:t>Faturação certificada e financeira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22320" y="3878400"/>
            <a:ext cx="2580480" cy="167024"/>
          </a:xfrm>
          <a:prstGeom prst="rect">
            <a:avLst/>
          </a:prstGeom>
          <a:solidFill>
            <a:srgbClr val="F5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22320" y="3878400"/>
            <a:ext cx="849271" cy="167024"/>
          </a:xfrm>
          <a:prstGeom prst="rect">
            <a:avLst/>
          </a:prstGeom>
          <a:solidFill>
            <a:srgbClr val="009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8800" y="3900000"/>
            <a:ext cx="1368000" cy="1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111827"/>
                </a:solidFill>
                <a:latin typeface="Aptos"/>
              </a:defRPr>
            </a:pPr>
            <a:r>
              <a:t>6h30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800" y="4279600"/>
            <a:ext cx="2819520" cy="1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111827"/>
                </a:solidFill>
                <a:latin typeface="Aptos"/>
              </a:defRPr>
            </a:pPr>
            <a:r>
              <a:t>Ambientes e infraestrutura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22320" y="4258000"/>
            <a:ext cx="2580480" cy="167024"/>
          </a:xfrm>
          <a:prstGeom prst="rect">
            <a:avLst/>
          </a:prstGeom>
          <a:solidFill>
            <a:srgbClr val="F5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22320" y="4258000"/>
            <a:ext cx="653286" cy="167024"/>
          </a:xfrm>
          <a:prstGeom prst="rect">
            <a:avLst/>
          </a:prstGeom>
          <a:solidFill>
            <a:srgbClr val="009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8800" y="4279600"/>
            <a:ext cx="1368000" cy="1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111827"/>
                </a:solidFill>
                <a:latin typeface="Aptos"/>
              </a:defRPr>
            </a:pPr>
            <a:r>
              <a:t>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800" y="4659200"/>
            <a:ext cx="2819520" cy="1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111827"/>
                </a:solidFill>
                <a:latin typeface="Aptos"/>
              </a:defRPr>
            </a:pPr>
            <a:r>
              <a:t>Gestão de projeto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22320" y="4637600"/>
            <a:ext cx="2580480" cy="167024"/>
          </a:xfrm>
          <a:prstGeom prst="rect">
            <a:avLst/>
          </a:prstGeom>
          <a:solidFill>
            <a:srgbClr val="F5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22320" y="4637600"/>
            <a:ext cx="587957" cy="167024"/>
          </a:xfrm>
          <a:prstGeom prst="rect">
            <a:avLst/>
          </a:prstGeom>
          <a:solidFill>
            <a:srgbClr val="009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28800" y="4659200"/>
            <a:ext cx="1368000" cy="1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111827"/>
                </a:solidFill>
                <a:latin typeface="Aptos"/>
              </a:defRPr>
            </a:pPr>
            <a:r>
              <a:t>4h30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800" y="5038800"/>
            <a:ext cx="2819520" cy="1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111827"/>
                </a:solidFill>
                <a:latin typeface="Aptos"/>
              </a:defRPr>
            </a:pPr>
            <a:r>
              <a:t>Recursos humanos e ausências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22320" y="5017200"/>
            <a:ext cx="2580480" cy="167024"/>
          </a:xfrm>
          <a:prstGeom prst="rect">
            <a:avLst/>
          </a:prstGeom>
          <a:solidFill>
            <a:srgbClr val="F5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22320" y="5017200"/>
            <a:ext cx="489964" cy="167024"/>
          </a:xfrm>
          <a:prstGeom prst="rect">
            <a:avLst/>
          </a:prstGeom>
          <a:solidFill>
            <a:srgbClr val="009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28800" y="5038800"/>
            <a:ext cx="1368000" cy="1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111827"/>
                </a:solidFill>
                <a:latin typeface="Aptos"/>
              </a:defRPr>
            </a:pPr>
            <a:r>
              <a:t>3h45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800" y="5418400"/>
            <a:ext cx="2819520" cy="1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111827"/>
                </a:solidFill>
                <a:latin typeface="Aptos"/>
              </a:defRPr>
            </a:pPr>
            <a:r>
              <a:t>Helpdesk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22320" y="5396800"/>
            <a:ext cx="2580480" cy="167024"/>
          </a:xfrm>
          <a:prstGeom prst="rect">
            <a:avLst/>
          </a:prstGeom>
          <a:solidFill>
            <a:srgbClr val="F5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22320" y="5396800"/>
            <a:ext cx="489964" cy="167024"/>
          </a:xfrm>
          <a:prstGeom prst="rect">
            <a:avLst/>
          </a:prstGeom>
          <a:solidFill>
            <a:srgbClr val="009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8800" y="5418400"/>
            <a:ext cx="1368000" cy="1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111827"/>
                </a:solidFill>
                <a:latin typeface="Aptos"/>
              </a:defRPr>
            </a:pPr>
            <a:r>
              <a:t>3h45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800" y="5798000"/>
            <a:ext cx="2819520" cy="1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111827"/>
                </a:solidFill>
                <a:latin typeface="Aptos"/>
              </a:defRPr>
            </a:pPr>
            <a:r>
              <a:t>Gestão do trabalho e ClickUp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22320" y="5776400"/>
            <a:ext cx="2580480" cy="167024"/>
          </a:xfrm>
          <a:prstGeom prst="rect">
            <a:avLst/>
          </a:prstGeom>
          <a:solidFill>
            <a:srgbClr val="F5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22320" y="5776400"/>
            <a:ext cx="195985" cy="167024"/>
          </a:xfrm>
          <a:prstGeom prst="rect">
            <a:avLst/>
          </a:prstGeom>
          <a:solidFill>
            <a:srgbClr val="009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28800" y="5798000"/>
            <a:ext cx="1368000" cy="1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111827"/>
                </a:solidFill>
                <a:latin typeface="Aptos"/>
              </a:defRPr>
            </a:pPr>
            <a:r>
              <a:t>1h30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6000" y="2451600"/>
            <a:ext cx="5040000" cy="23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009FE3"/>
                </a:solidFill>
                <a:latin typeface="Aptos"/>
              </a:defRPr>
            </a:pPr>
            <a:r>
              <a:t>Distribuição por consultor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66000" y="2739600"/>
            <a:ext cx="3675599" cy="349200"/>
          </a:xfrm>
          <a:prstGeom prst="rect">
            <a:avLst/>
          </a:prstGeom>
          <a:solidFill>
            <a:srgbClr val="F5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866000" y="2739600"/>
            <a:ext cx="3675599" cy="36000"/>
          </a:xfrm>
          <a:prstGeom prst="rect">
            <a:avLst/>
          </a:prstGeom>
          <a:solidFill>
            <a:srgbClr val="009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56000" y="2829600"/>
            <a:ext cx="2392920" cy="11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1">
                <a:solidFill>
                  <a:srgbClr val="111827"/>
                </a:solidFill>
                <a:latin typeface="Aptos"/>
              </a:defRPr>
            </a:pPr>
            <a:r>
              <a:t>Consultor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28920" y="2829600"/>
            <a:ext cx="922679" cy="11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1">
                <a:solidFill>
                  <a:srgbClr val="111827"/>
                </a:solidFill>
                <a:latin typeface="Aptos"/>
              </a:defRPr>
            </a:pPr>
            <a:r>
              <a:t>Horas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6000" y="3250800"/>
            <a:ext cx="2392920" cy="15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Nuno Oliveira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28920" y="3250800"/>
            <a:ext cx="922679" cy="15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50h15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66000" y="3564432"/>
            <a:ext cx="3675599" cy="0"/>
          </a:xfrm>
          <a:prstGeom prst="rect">
            <a:avLst/>
          </a:prstGeom>
          <a:noFill/>
          <a:ln w="1270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6000" y="3726000"/>
            <a:ext cx="2392920" cy="15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Miguel Dias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28920" y="3726000"/>
            <a:ext cx="922679" cy="15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7h15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866000" y="4039632"/>
            <a:ext cx="3675599" cy="0"/>
          </a:xfrm>
          <a:prstGeom prst="rect">
            <a:avLst/>
          </a:prstGeom>
          <a:noFill/>
          <a:ln w="1270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56000" y="4201200"/>
            <a:ext cx="2392920" cy="15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Bruno Pinheiro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28920" y="4201200"/>
            <a:ext cx="922679" cy="15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3h45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349200"/>
            <a:ext cx="8776800" cy="38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11827"/>
                </a:solidFill>
                <a:latin typeface="Aptos Display"/>
              </a:defRPr>
            </a:pPr>
            <a:r>
              <a:t>4. Estado atual e 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806400"/>
            <a:ext cx="6858000" cy="18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80" b="0">
                <a:solidFill>
                  <a:srgbClr val="64748B"/>
                </a:solidFill>
                <a:latin typeface="Aptos"/>
              </a:defRPr>
            </a:pPr>
            <a:r>
              <a:t>Frentes com progresso relevante e trabalhos planeados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5200" y="1033200"/>
            <a:ext cx="11293200" cy="0"/>
          </a:xfrm>
          <a:prstGeom prst="rect">
            <a:avLst/>
          </a:prstGeom>
          <a:noFill/>
          <a:ln w="1270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g_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7600" y="262800"/>
            <a:ext cx="543600" cy="543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5200" y="6328799"/>
            <a:ext cx="11293200" cy="0"/>
          </a:xfrm>
          <a:prstGeom prst="rect">
            <a:avLst/>
          </a:prstGeom>
          <a:noFill/>
          <a:ln w="1270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5200" y="6429600"/>
            <a:ext cx="4320000" cy="14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0">
                <a:solidFill>
                  <a:srgbClr val="64748B"/>
                </a:solidFill>
                <a:latin typeface="Aptos"/>
              </a:defRPr>
            </a:pPr>
            <a:r>
              <a:t>Ponto de Situação · RK.AI — Reckon.ai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58000" y="6400800"/>
            <a:ext cx="320400" cy="183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00" b="1">
                <a:solidFill>
                  <a:srgbClr val="009FE3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800" y="1389600"/>
            <a:ext cx="5365800" cy="4766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800" y="1389600"/>
            <a:ext cx="5365800" cy="36000"/>
          </a:xfrm>
          <a:prstGeom prst="rect">
            <a:avLst/>
          </a:prstGeom>
          <a:solidFill>
            <a:srgbClr val="009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800" y="1605600"/>
            <a:ext cx="49338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11827"/>
                </a:solidFill>
                <a:latin typeface="Aptos"/>
              </a:defRPr>
            </a:pPr>
            <a:r>
              <a:t>Estado atual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800" y="2037600"/>
            <a:ext cx="4933800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111827"/>
                </a:solidFill>
                <a:latin typeface="Aptos"/>
              </a:defRPr>
            </a:pPr>
            <a:r>
              <a:t>• sem execução imputada ao projeto desde 9 de setembro: as frentes seguintes aguardam decisões do cliente;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00" y="2505600"/>
            <a:ext cx="4933800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111827"/>
                </a:solidFill>
                <a:latin typeface="Aptos"/>
              </a:defRPr>
            </a:pPr>
            <a:r>
              <a:t>• ambiente de produção disponibilizado, com os addons promovidos a partir do ambiente de testes;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800" y="2973600"/>
            <a:ext cx="4933800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111827"/>
                </a:solidFill>
                <a:latin typeface="Aptos"/>
              </a:defRPr>
            </a:pPr>
            <a:r>
              <a:t>• circuito de Supply Chain validado em sessão com os responsáveis e decisões consolidadas;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4800" y="3441600"/>
            <a:ext cx="4933800" cy="20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111827"/>
                </a:solidFill>
                <a:latin typeface="Aptos"/>
              </a:defRPr>
            </a:pPr>
            <a:r>
              <a:t>• área comercial desenhada e histórico do Pipedrive migrado para a base de testes;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4800" y="3722400"/>
            <a:ext cx="4933800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111827"/>
                </a:solidFill>
                <a:latin typeface="Aptos"/>
              </a:defRPr>
            </a:pPr>
            <a:r>
              <a:t>• código de ativação da localização PT+ recebido a 14 de setembro, ainda por aplicar;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4800" y="4190400"/>
            <a:ext cx="4933800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111827"/>
                </a:solidFill>
                <a:latin typeface="Aptos"/>
              </a:defRPr>
            </a:pPr>
            <a:r>
              <a:t>• bolsa de serviços consumida: 49 horas entregues na encomenda S01791, que previa 40 horas.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5800" y="1389600"/>
            <a:ext cx="5365800" cy="4766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5800" y="1389600"/>
            <a:ext cx="5365800" cy="36000"/>
          </a:xfrm>
          <a:prstGeom prst="rect">
            <a:avLst/>
          </a:prstGeom>
          <a:solidFill>
            <a:srgbClr val="009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800" y="1605600"/>
            <a:ext cx="49338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11827"/>
                </a:solidFill>
                <a:latin typeface="Aptos"/>
              </a:defRPr>
            </a:pPr>
            <a:r>
              <a:t>Próximos passos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800" y="2037600"/>
            <a:ext cx="4933800" cy="20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111827"/>
                </a:solidFill>
                <a:latin typeface="Aptos"/>
              </a:defRPr>
            </a:pPr>
            <a:r>
              <a:t>• fechar o âmbito v1.2, com orçamento e plano de fases;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800" y="2318400"/>
            <a:ext cx="4933800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111827"/>
                </a:solidFill>
                <a:latin typeface="Aptos"/>
              </a:defRPr>
            </a:pPr>
            <a:r>
              <a:t>• decidir a empresa a adotar na base de produção, que desbloqueia certificação e plano de contas;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800" y="2786400"/>
            <a:ext cx="4933800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111827"/>
                </a:solidFill>
                <a:latin typeface="Aptos"/>
              </a:defRPr>
            </a:pPr>
            <a:r>
              <a:t>• aplicar o código de ativação recebido e registar as séries de faturação na Autoridade Tributária;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800" y="3254400"/>
            <a:ext cx="4933800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111827"/>
                </a:solidFill>
                <a:latin typeface="Aptos"/>
              </a:defRPr>
            </a:pPr>
            <a:r>
              <a:t>• carregar o plano de contas e configurar os dados mestre: IVA, unidades, preços e NIF;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800" y="3722400"/>
            <a:ext cx="4933800" cy="20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111827"/>
                </a:solidFill>
                <a:latin typeface="Aptos"/>
              </a:defRPr>
            </a:pPr>
            <a:r>
              <a:t>• agendar as sessões de formação adiadas em setembro;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800" y="4003200"/>
            <a:ext cx="4933800" cy="20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111827"/>
                </a:solidFill>
                <a:latin typeface="Aptos"/>
              </a:defRPr>
            </a:pPr>
            <a:r>
              <a:t>• concluir a configuração da fase 1 do Helpdesk e as sequências do CRM;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800" y="4284000"/>
            <a:ext cx="4933800" cy="20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111827"/>
                </a:solidFill>
                <a:latin typeface="Aptos"/>
              </a:defRPr>
            </a:pPr>
            <a:r>
              <a:t>• concluir a transição do ClickUp e arrancar a migração de stock inicial.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349200"/>
            <a:ext cx="8776800" cy="38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11827"/>
                </a:solidFill>
                <a:latin typeface="Aptos Display"/>
              </a:defRPr>
            </a:pPr>
            <a:r>
              <a:t>5. Riscos e pontos de atenção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806400"/>
            <a:ext cx="6858000" cy="18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80" b="0">
                <a:solidFill>
                  <a:srgbClr val="64748B"/>
                </a:solidFill>
                <a:latin typeface="Aptos"/>
              </a:defRPr>
            </a:pPr>
            <a:r>
              <a:t>Pontos de atenção do período e respetiva mitigação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5200" y="1033200"/>
            <a:ext cx="11293200" cy="0"/>
          </a:xfrm>
          <a:prstGeom prst="rect">
            <a:avLst/>
          </a:prstGeom>
          <a:noFill/>
          <a:ln w="1270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g_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7600" y="262800"/>
            <a:ext cx="543600" cy="543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5200" y="6328799"/>
            <a:ext cx="11293200" cy="0"/>
          </a:xfrm>
          <a:prstGeom prst="rect">
            <a:avLst/>
          </a:prstGeom>
          <a:noFill/>
          <a:ln w="1270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5200" y="6429600"/>
            <a:ext cx="4320000" cy="14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0">
                <a:solidFill>
                  <a:srgbClr val="64748B"/>
                </a:solidFill>
                <a:latin typeface="Aptos"/>
              </a:defRPr>
            </a:pPr>
            <a:r>
              <a:t>Ponto de Situação · RK.AI — Reckon.ai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58000" y="6400800"/>
            <a:ext cx="320400" cy="183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00" b="1">
                <a:solidFill>
                  <a:srgbClr val="009FE3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800" y="1389600"/>
            <a:ext cx="10882800" cy="84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800" y="1389600"/>
            <a:ext cx="36000" cy="8402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800" y="1497600"/>
            <a:ext cx="104868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111827"/>
                </a:solidFill>
                <a:latin typeface="Aptos"/>
              </a:defRPr>
            </a:pPr>
            <a:r>
              <a:t>Projeto sem execução desde 9 de setembro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6800" y="1749599"/>
            <a:ext cx="10486800" cy="372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850" b="0">
                <a:solidFill>
                  <a:srgbClr val="64748B"/>
                </a:solidFill>
                <a:latin typeface="Aptos"/>
              </a:defRPr>
            </a:pPr>
            <a:r>
              <a:t>Duas semanas sem trabalho imputado, com as frentes seguintes dependentes de decisões do cliente. Cada semana parada afasta a equipa afeta e encarece o recomeço. Mitigação: fechar as decisões pendentes na presente sessão e fixar datas.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800" y="2319840"/>
            <a:ext cx="10882800" cy="84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800" y="2319840"/>
            <a:ext cx="36000" cy="8402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6800" y="2427840"/>
            <a:ext cx="104868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111827"/>
                </a:solidFill>
                <a:latin typeface="Aptos"/>
              </a:defRPr>
            </a:pPr>
            <a:r>
              <a:t>Esforço contratado consumido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800" y="2679840"/>
            <a:ext cx="10486800" cy="372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850" b="0">
                <a:solidFill>
                  <a:srgbClr val="64748B"/>
                </a:solidFill>
                <a:latin typeface="Aptos"/>
              </a:defRPr>
            </a:pPr>
            <a:r>
              <a:t>A encomenda S01791 prevê 40 horas de serviços e estão entregues 49 horas, com cerca de 66h30 ainda estimadas nas frentes por concluir. Mitigação: fechar o âmbito v1.2 com orçamento e plano de fases antes de abrir novas frentes.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800" y="3250080"/>
            <a:ext cx="10882800" cy="84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800" y="3250080"/>
            <a:ext cx="36000" cy="8402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6800" y="3358080"/>
            <a:ext cx="104868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111827"/>
                </a:solidFill>
                <a:latin typeface="Aptos"/>
              </a:defRPr>
            </a:pPr>
            <a:r>
              <a:t>Estrutura de duas empresas na base de produção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800" y="3610080"/>
            <a:ext cx="10486800" cy="372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850" b="0">
                <a:solidFill>
                  <a:srgbClr val="64748B"/>
                </a:solidFill>
                <a:latin typeface="Aptos"/>
              </a:defRPr>
            </a:pPr>
            <a:r>
              <a:t>A base de produção tem duas empresas, com a contabilidade e os diários bancários repartidos. A instalação da certificação exige a decisão prévia sobre a empresa a adotar, sob pena de ser preciso refazer configuração.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800" y="4180320"/>
            <a:ext cx="10882800" cy="681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800" y="4180320"/>
            <a:ext cx="36000" cy="6811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800" y="4288320"/>
            <a:ext cx="104868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111827"/>
                </a:solidFill>
                <a:latin typeface="Aptos"/>
              </a:defRPr>
            </a:pPr>
            <a:r>
              <a:t>Ambiente de testes dependente da subscrição de alojamento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6800" y="4540320"/>
            <a:ext cx="10486800" cy="213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defRPr sz="850" b="0">
                <a:solidFill>
                  <a:srgbClr val="64748B"/>
                </a:solidFill>
                <a:latin typeface="Aptos"/>
              </a:defRPr>
            </a:pPr>
            <a:r>
              <a:t>A indisponibilidade dos dados de testes foi rastreada à redução do número de ambientes de staging na subscrição. Convém fixar os ambientes necessários antes das fases de migração.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349200"/>
            <a:ext cx="8776800" cy="38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11827"/>
                </a:solidFill>
                <a:latin typeface="Aptos Display"/>
              </a:defRPr>
            </a:pPr>
            <a:r>
              <a:t>6. Decisões pendentes do cliente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806400"/>
            <a:ext cx="6858000" cy="18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80" b="0">
                <a:solidFill>
                  <a:srgbClr val="64748B"/>
                </a:solidFill>
                <a:latin typeface="Aptos"/>
              </a:defRPr>
            </a:pPr>
            <a:r>
              <a:t>Decisões que dependem do cliente para o projeto avançar</a:t>
            </a:r>
          </a:p>
        </p:txBody>
      </p:sp>
      <p:sp>
        <p:nvSpPr>
          <p:cNvPr id="4" name="Rectangle 3"/>
          <p:cNvSpPr/>
          <p:nvPr/>
        </p:nvSpPr>
        <p:spPr>
          <a:xfrm>
            <a:off x="385200" y="1033200"/>
            <a:ext cx="11293200" cy="0"/>
          </a:xfrm>
          <a:prstGeom prst="rect">
            <a:avLst/>
          </a:prstGeom>
          <a:noFill/>
          <a:ln w="1270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g_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7600" y="262800"/>
            <a:ext cx="543600" cy="543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5200" y="6328799"/>
            <a:ext cx="11293200" cy="0"/>
          </a:xfrm>
          <a:prstGeom prst="rect">
            <a:avLst/>
          </a:prstGeom>
          <a:noFill/>
          <a:ln w="1270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5200" y="6429600"/>
            <a:ext cx="4320000" cy="14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0">
                <a:solidFill>
                  <a:srgbClr val="64748B"/>
                </a:solidFill>
                <a:latin typeface="Aptos"/>
              </a:defRPr>
            </a:pPr>
            <a:r>
              <a:t>Ponto de Situação · RK.AI — Reckon.ai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58000" y="6400800"/>
            <a:ext cx="320400" cy="183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00" b="1">
                <a:solidFill>
                  <a:srgbClr val="009FE3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800" y="1389600"/>
            <a:ext cx="10882800" cy="349200"/>
          </a:xfrm>
          <a:prstGeom prst="rect">
            <a:avLst/>
          </a:prstGeom>
          <a:solidFill>
            <a:srgbClr val="F5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800" y="1389600"/>
            <a:ext cx="10882800" cy="36000"/>
          </a:xfrm>
          <a:prstGeom prst="rect">
            <a:avLst/>
          </a:prstGeom>
          <a:solidFill>
            <a:srgbClr val="009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8800" y="1479599"/>
            <a:ext cx="3810360" cy="11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1">
                <a:solidFill>
                  <a:srgbClr val="111827"/>
                </a:solidFill>
                <a:latin typeface="Aptos"/>
              </a:defRPr>
            </a:pPr>
            <a:r>
              <a:t>Decisão necessária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9160" y="1479599"/>
            <a:ext cx="5261400" cy="11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1">
                <a:solidFill>
                  <a:srgbClr val="111827"/>
                </a:solidFill>
                <a:latin typeface="Aptos"/>
              </a:defRPr>
            </a:pPr>
            <a:r>
              <a:t>Impacto se não decidido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560" y="1479599"/>
            <a:ext cx="1271040" cy="11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1">
                <a:solidFill>
                  <a:srgbClr val="111827"/>
                </a:solidFill>
                <a:latin typeface="Aptos"/>
              </a:defRPr>
            </a:pPr>
            <a:r>
              <a:t>Prazo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800" y="1900799"/>
            <a:ext cx="3810360" cy="15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Empresa a adotar na base de produção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9160" y="1900799"/>
            <a:ext cx="5261400" cy="15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Bloqueia a certificação e o carregamento do plano de contas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80560" y="1900799"/>
            <a:ext cx="1271040" cy="15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nesta sessão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800" y="2214431"/>
            <a:ext cx="10882800" cy="0"/>
          </a:xfrm>
          <a:prstGeom prst="rect">
            <a:avLst/>
          </a:prstGeom>
          <a:noFill/>
          <a:ln w="1270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8800" y="2376000"/>
            <a:ext cx="3810360" cy="15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Versão final do plano de contas da contabilidade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9160" y="2376000"/>
            <a:ext cx="5261400" cy="15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Condiciona o arranque da área financeira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80560" y="2376000"/>
            <a:ext cx="1271040" cy="15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nesta sessão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800" y="2689632"/>
            <a:ext cx="10882800" cy="0"/>
          </a:xfrm>
          <a:prstGeom prst="rect">
            <a:avLst/>
          </a:prstGeom>
          <a:noFill/>
          <a:ln w="1270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8800" y="2851200"/>
            <a:ext cx="3810360" cy="15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Âmbito v1.2, orçamento e plano de fases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9160" y="2851200"/>
            <a:ext cx="5261400" cy="15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Condiciona o planeamento de todas as frentes por arrancar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80560" y="2851200"/>
            <a:ext cx="1271040" cy="15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nesta sessão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800" y="3164832"/>
            <a:ext cx="10882800" cy="0"/>
          </a:xfrm>
          <a:prstGeom prst="rect">
            <a:avLst/>
          </a:prstGeom>
          <a:noFill/>
          <a:ln w="1270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8800" y="3326400"/>
            <a:ext cx="3810360" cy="15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Datas das sessões de formação da equipa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9160" y="3326400"/>
            <a:ext cx="5261400" cy="15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Condiciona a autonomia da equipa Reckon.ai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80560" y="3326400"/>
            <a:ext cx="1271040" cy="15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defRPr sz="850" b="0">
                <a:solidFill>
                  <a:srgbClr val="111827"/>
                </a:solidFill>
                <a:latin typeface="Aptos"/>
              </a:defRPr>
            </a:pPr>
            <a:r>
              <a:t>até 30/09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349200"/>
            <a:ext cx="8776800" cy="38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11827"/>
                </a:solidFill>
                <a:latin typeface="Aptos Display"/>
              </a:defRPr>
            </a:pPr>
            <a:r>
              <a:t>Próximos passos e contacto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806400"/>
            <a:ext cx="6858000" cy="18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80" b="0">
                <a:solidFill>
                  <a:srgbClr val="64748B"/>
                </a:solidFill>
                <a:latin typeface="Aptos"/>
              </a:defRPr>
            </a:pPr>
            <a:r>
              <a:t>Fecho do ponto de situação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5200" y="1033200"/>
            <a:ext cx="11293200" cy="0"/>
          </a:xfrm>
          <a:prstGeom prst="rect">
            <a:avLst/>
          </a:prstGeom>
          <a:noFill/>
          <a:ln w="1270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g_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7600" y="262800"/>
            <a:ext cx="543600" cy="543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5200" y="6328799"/>
            <a:ext cx="11293200" cy="0"/>
          </a:xfrm>
          <a:prstGeom prst="rect">
            <a:avLst/>
          </a:prstGeom>
          <a:noFill/>
          <a:ln w="12700">
            <a:solidFill>
              <a:srgbClr val="E7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5200" y="6429600"/>
            <a:ext cx="4320000" cy="14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0">
                <a:solidFill>
                  <a:srgbClr val="64748B"/>
                </a:solidFill>
                <a:latin typeface="Aptos"/>
              </a:defRPr>
            </a:pPr>
            <a:r>
              <a:t>Ponto de Situação · RK.AI — Reckon.ai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58000" y="6400800"/>
            <a:ext cx="320400" cy="183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00" b="1">
                <a:solidFill>
                  <a:srgbClr val="009FE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12800" y="1389600"/>
            <a:ext cx="349200" cy="349200"/>
          </a:xfrm>
          <a:prstGeom prst="rect">
            <a:avLst/>
          </a:prstGeom>
          <a:solidFill>
            <a:srgbClr val="009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2800" y="1486800"/>
            <a:ext cx="349200" cy="100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800" y="1443600"/>
            <a:ext cx="10252800" cy="23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11827"/>
                </a:solidFill>
                <a:latin typeface="Aptos"/>
              </a:defRPr>
            </a:pPr>
            <a:r>
              <a:t>Fechar as quatro decisões em aberto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800" y="1771200"/>
            <a:ext cx="10252800" cy="16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0">
                <a:solidFill>
                  <a:srgbClr val="64748B"/>
                </a:solidFill>
                <a:latin typeface="Aptos"/>
              </a:defRPr>
            </a:pPr>
            <a:r>
              <a:t>Reckon.ai · é o que desbloqueia a certificação e a área financeira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2800" y="2304000"/>
            <a:ext cx="349200" cy="349200"/>
          </a:xfrm>
          <a:prstGeom prst="rect">
            <a:avLst/>
          </a:prstGeom>
          <a:solidFill>
            <a:srgbClr val="009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2800" y="2401200"/>
            <a:ext cx="349200" cy="100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800" y="2358000"/>
            <a:ext cx="10252800" cy="23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11827"/>
                </a:solidFill>
                <a:latin typeface="Aptos"/>
              </a:defRPr>
            </a:pPr>
            <a:r>
              <a:t>Apresentar o âmbito v1.2 com orçamento e plano de fases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800" y="2685600"/>
            <a:ext cx="10252800" cy="16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0">
                <a:solidFill>
                  <a:srgbClr val="64748B"/>
                </a:solidFill>
                <a:latin typeface="Aptos"/>
              </a:defRPr>
            </a:pPr>
            <a:r>
              <a:t>Parâmetro Global · após as decisões acima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2800" y="3218400"/>
            <a:ext cx="349200" cy="349200"/>
          </a:xfrm>
          <a:prstGeom prst="rect">
            <a:avLst/>
          </a:prstGeom>
          <a:solidFill>
            <a:srgbClr val="009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2800" y="3315599"/>
            <a:ext cx="349200" cy="100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800" y="3272400"/>
            <a:ext cx="10252800" cy="23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11827"/>
                </a:solidFill>
                <a:latin typeface="Aptos"/>
              </a:defRPr>
            </a:pPr>
            <a:r>
              <a:t>Fixar o calendário das frentes seguintes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800" y="3600000"/>
            <a:ext cx="10252800" cy="16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0">
                <a:solidFill>
                  <a:srgbClr val="64748B"/>
                </a:solidFill>
                <a:latin typeface="Aptos"/>
              </a:defRPr>
            </a:pPr>
            <a:r>
              <a:t>Ambas as partes · com datas e responsáveis por frente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2800" y="5137200"/>
            <a:ext cx="10605600" cy="712800"/>
          </a:xfrm>
          <a:prstGeom prst="rect">
            <a:avLst/>
          </a:prstGeom>
          <a:solidFill>
            <a:srgbClr val="F5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414400"/>
            <a:ext cx="10202400" cy="14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11827"/>
                </a:solidFill>
                <a:latin typeface="Aptos"/>
              </a:defRPr>
            </a:pPr>
            <a:r>
              <a:t>Ficamos disponíveis para qualquer esclarecimento adicional.   ·   Cláudio Pereira · Parâmetro Global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Ecrã Panorâmico</PresentationFormat>
  <Paragraphs>0</Paragraphs>
  <Slides>9</Slides>
  <Notes>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0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Parâmetro Global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PowerPoint Parâmetro Global</dc:title>
  <dc:subject>Reusable presentation template</dc:subject>
  <dc:creator>Parâmetro Global</dc:creator>
  <cp:lastModifiedBy>Parâmetro Global</cp:lastModifiedBy>
  <cp:revision>58</cp:revision>
  <dcterms:created xsi:type="dcterms:W3CDTF">2026-05-20T16:01:53Z</dcterms:created>
  <dcterms:modified xsi:type="dcterms:W3CDTF">2026-05-21T17:04:52Z</dcterms:modified>
</cp:coreProperties>
</file>