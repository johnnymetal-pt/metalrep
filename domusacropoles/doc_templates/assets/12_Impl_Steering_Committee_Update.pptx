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pt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2697480" cy="841248"/>
          </a:xfrm>
          <a:prstGeom prst="rect">
            <a:avLst/>
          </a:prstGeom>
        </p:spPr>
      </p:pic>
      <p:pic>
        <p:nvPicPr>
          <p:cNvPr id="3" name="Image 1" descr="/mnt/data/template_ppt_unzip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11480"/>
            <a:ext cx="384048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2121408"/>
            <a:ext cx="6949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4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Steering Committee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777240" y="2779776"/>
            <a:ext cx="1600200" cy="50292"/>
          </a:xfrm>
          <a:prstGeom prst="rect">
            <a:avLst/>
          </a:prstGeom>
          <a:solidFill>
            <a:srgbClr val="0094E9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04672" y="2907792"/>
            <a:ext cx="7040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de Progresso — Fase de Implementação</a:t>
            </a:r>
            <a:endParaRPr lang="en-US" sz="1220" dirty="0"/>
          </a:p>
        </p:txBody>
      </p:sp>
      <p:sp>
        <p:nvSpPr>
          <p:cNvPr id="7" name="Text 3"/>
          <p:cNvSpPr/>
          <p:nvPr/>
        </p:nvSpPr>
        <p:spPr>
          <a:xfrm>
            <a:off x="804672" y="4791456"/>
            <a:ext cx="8686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Cliente: _______________________     Sprint / Semana: ____________     Data: ____________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04672" y="5102352"/>
            <a:ext cx="7315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Apresentado por: _______________________ (Project Leader, Odoo)</a:t>
            </a:r>
            <a:endParaRPr lang="en-US" sz="760" dirty="0"/>
          </a:p>
        </p:txBody>
      </p:sp>
      <p:sp>
        <p:nvSpPr>
          <p:cNvPr id="9" name="Text 5"/>
          <p:cNvSpPr/>
          <p:nvPr/>
        </p:nvSpPr>
        <p:spPr>
          <a:xfrm>
            <a:off x="777240" y="6053328"/>
            <a:ext cx="4572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 Global · Global technology. Local insights.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D2B"/>
          </a:solidFill>
          <a:ln w="5080">
            <a:solidFill>
              <a:srgbClr val="151D2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— Estado Global do Projeto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executivo — semáforo por dimensão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Committee Update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417320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PRAZO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77240" y="1728216"/>
            <a:ext cx="2240280" cy="56692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566160" y="1417320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ORÇAMENTO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3566160" y="1728216"/>
            <a:ext cx="2240280" cy="56692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55080" y="1417320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ÂMBITO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6355080" y="1728216"/>
            <a:ext cx="2240280" cy="566928"/>
          </a:xfrm>
          <a:prstGeom prst="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AMARELO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144000" y="1417320"/>
            <a:ext cx="2240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RISCOS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9144000" y="1728216"/>
            <a:ext cx="2240280" cy="566928"/>
          </a:xfrm>
          <a:prstGeom prst="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AMARELO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77240" y="2834640"/>
            <a:ext cx="2834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da semana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777240" y="3246120"/>
            <a:ext cx="10607040" cy="960120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Implementação a decorrer dentro do prazo e orçamento. Configuração dos workstreams de Vendas e Compras concluída e validada. Inventário e Financeiro em curso. Dois pedidos fora de âmbito foram enviados para o backlog e requerem decisão deste comité.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" y="4754880"/>
            <a:ext cx="1371600" cy="350520"/>
          </a:xfrm>
          <a:prstGeom prst="rect">
            <a:avLst/>
          </a:prstGeom>
          <a:solidFill>
            <a:srgbClr val="16A34A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2148840" y="4754880"/>
            <a:ext cx="3566160" cy="350520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plano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777240" y="5105400"/>
            <a:ext cx="1371600" cy="350520"/>
          </a:xfrm>
          <a:prstGeom prst="rect">
            <a:avLst/>
          </a:prstGeom>
          <a:solidFill>
            <a:srgbClr val="F59E0B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AMARELO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2148840" y="5105400"/>
            <a:ext cx="3566160" cy="350520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Atenção, com mitigação</a:t>
            </a:r>
            <a:endParaRPr lang="en-US" sz="730" dirty="0"/>
          </a:p>
        </p:txBody>
      </p:sp>
      <p:sp>
        <p:nvSpPr>
          <p:cNvPr id="23" name="Text 20"/>
          <p:cNvSpPr/>
          <p:nvPr/>
        </p:nvSpPr>
        <p:spPr>
          <a:xfrm>
            <a:off x="777240" y="5455920"/>
            <a:ext cx="1371600" cy="350520"/>
          </a:xfrm>
          <a:prstGeom prst="rect">
            <a:avLst/>
          </a:prstGeom>
          <a:solidFill>
            <a:srgbClr val="EF4444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VERMELHO</a:t>
            </a:r>
            <a:endParaRPr lang="en-US" sz="730" dirty="0"/>
          </a:p>
        </p:txBody>
      </p:sp>
      <p:sp>
        <p:nvSpPr>
          <p:cNvPr id="24" name="Text 21"/>
          <p:cNvSpPr/>
          <p:nvPr/>
        </p:nvSpPr>
        <p:spPr>
          <a:xfrm>
            <a:off x="2148840" y="5455920"/>
            <a:ext cx="3566160" cy="350520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 imediata necessária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64008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requerida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400800" y="5074920"/>
            <a:ext cx="44805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data-alvo de Go-Live, tratamento dos pedidos de Studio e alocação de recurso para limpeza de dados.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— Progresso por Workstream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Percentagem de conclusão por área funcional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Committee Update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325880"/>
            <a:ext cx="2926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Concluído &amp; validado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" y="17373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078992" y="172821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 / CRM — em produção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868680" y="205740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078992" y="204825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 — em validação final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7724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curso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68680" y="31089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1078992" y="309981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Inventário — configuração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868680" y="342900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1078992" y="341985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Financeiro — mapeamento de contas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868680" y="3749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1078992" y="3739896"/>
            <a:ext cx="3721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— após dados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5486400" y="14904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 / CRM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635240" y="1508760"/>
            <a:ext cx="3840480" cy="146304"/>
          </a:xfrm>
          <a:prstGeom prst="rect">
            <a:avLst/>
          </a:prstGeom>
          <a:solidFill>
            <a:srgbClr val="16A34A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521440" y="1463040"/>
            <a:ext cx="411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486400" y="2203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635240" y="2221992"/>
            <a:ext cx="3648456" cy="146304"/>
          </a:xfrm>
          <a:prstGeom prst="rect">
            <a:avLst/>
          </a:prstGeom>
          <a:solidFill>
            <a:srgbClr val="16A34A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521440" y="2176272"/>
            <a:ext cx="411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486400" y="29169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Inventário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635240" y="2935224"/>
            <a:ext cx="2688336" cy="146304"/>
          </a:xfrm>
          <a:prstGeom prst="rect">
            <a:avLst/>
          </a:prstGeom>
          <a:solidFill>
            <a:srgbClr val="0094E9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521440" y="2889504"/>
            <a:ext cx="411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486400" y="3630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Financeiro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7635240" y="3648456"/>
            <a:ext cx="2112264" cy="146304"/>
          </a:xfrm>
          <a:prstGeom prst="rect">
            <a:avLst/>
          </a:prstGeom>
          <a:solidFill>
            <a:srgbClr val="F59E0B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521440" y="3602736"/>
            <a:ext cx="411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55%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486400" y="43434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7635240" y="4361688"/>
            <a:ext cx="1152144" cy="146304"/>
          </a:xfrm>
          <a:prstGeom prst="rect">
            <a:avLst/>
          </a:prstGeom>
          <a:solidFill>
            <a:srgbClr val="F97316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521440" y="4315968"/>
            <a:ext cx="411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486400" y="5349240"/>
            <a:ext cx="2103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executiva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486400" y="5650992"/>
            <a:ext cx="51206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frente comercial está praticamente fechada. O risco de prazo concentra-se agora em dados de stock e validações financeiras.</a:t>
            </a:r>
            <a:endParaRPr lang="en-US" sz="7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— Estado do Backlog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Desenvolvimentos por prioridade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Committee Update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417320"/>
            <a:ext cx="2240280" cy="530352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2093976"/>
            <a:ext cx="2240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Must-have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77240" y="240487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concluídos: 8</a:t>
            </a:r>
            <a:endParaRPr lang="en-US" sz="640" dirty="0"/>
          </a:p>
        </p:txBody>
      </p:sp>
      <p:sp>
        <p:nvSpPr>
          <p:cNvPr id="12" name="Text 9"/>
          <p:cNvSpPr/>
          <p:nvPr/>
        </p:nvSpPr>
        <p:spPr>
          <a:xfrm>
            <a:off x="3520440" y="1417320"/>
            <a:ext cx="2240280" cy="530352"/>
          </a:xfrm>
          <a:prstGeom prst="rect">
            <a:avLst/>
          </a:prstGeom>
          <a:solidFill>
            <a:srgbClr val="EBF7FF"/>
          </a:solidFill>
          <a:ln w="7620">
            <a:solidFill>
              <a:srgbClr val="0094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520440" y="2093976"/>
            <a:ext cx="2240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Nice-to-have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3520440" y="240487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concluídos: 2</a:t>
            </a:r>
            <a:endParaRPr lang="en-US" sz="640" dirty="0"/>
          </a:p>
        </p:txBody>
      </p:sp>
      <p:sp>
        <p:nvSpPr>
          <p:cNvPr id="15" name="Text 12"/>
          <p:cNvSpPr/>
          <p:nvPr/>
        </p:nvSpPr>
        <p:spPr>
          <a:xfrm>
            <a:off x="6263640" y="1417320"/>
            <a:ext cx="2240280" cy="530352"/>
          </a:xfrm>
          <a:prstGeom prst="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263640" y="2093976"/>
            <a:ext cx="2240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lot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6263640" y="240487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espera</a:t>
            </a:r>
            <a:endParaRPr lang="en-US" sz="640" dirty="0"/>
          </a:p>
        </p:txBody>
      </p:sp>
      <p:sp>
        <p:nvSpPr>
          <p:cNvPr id="18" name="Text 15"/>
          <p:cNvSpPr/>
          <p:nvPr/>
        </p:nvSpPr>
        <p:spPr>
          <a:xfrm>
            <a:off x="9006840" y="1417320"/>
            <a:ext cx="2240280" cy="530352"/>
          </a:xfrm>
          <a:prstGeom prst="rect">
            <a:avLst/>
          </a:prstGeom>
          <a:solidFill>
            <a:srgbClr val="FEE2E2"/>
          </a:solidFill>
          <a:ln w="7620">
            <a:solidFill>
              <a:srgbClr val="EF444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006840" y="2093976"/>
            <a:ext cx="2240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Cancelado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9006840" y="2404872"/>
            <a:ext cx="2240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fora de âmbito</a:t>
            </a:r>
            <a:endParaRPr lang="en-US" sz="640" dirty="0"/>
          </a:p>
        </p:txBody>
      </p:sp>
      <p:sp>
        <p:nvSpPr>
          <p:cNvPr id="21" name="Text 18"/>
          <p:cNvSpPr/>
          <p:nvPr/>
        </p:nvSpPr>
        <p:spPr>
          <a:xfrm>
            <a:off x="86868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itens registados no total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868680" y="3886200"/>
            <a:ext cx="9875520" cy="658368"/>
          </a:xfrm>
          <a:prstGeom prst="rect">
            <a:avLst/>
          </a:prstGeom>
          <a:solidFill>
            <a:srgbClr val="EBF7FF"/>
          </a:solidFill>
          <a:ln w="12700">
            <a:solidFill>
              <a:srgbClr val="D5E2E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mantido nos must-have; nice-to-have só avançam após cobertura completa dos essenciais. Itens do parking lot são candidatos a Fase 2.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68680" y="5074920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de decisão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868680" y="54406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1078992" y="5431536"/>
            <a:ext cx="6373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Must-have protege Go-Live</a:t>
            </a:r>
            <a:endParaRPr lang="en-US" sz="740" dirty="0"/>
          </a:p>
        </p:txBody>
      </p:sp>
      <p:sp>
        <p:nvSpPr>
          <p:cNvPr id="26" name="Text 23"/>
          <p:cNvSpPr/>
          <p:nvPr/>
        </p:nvSpPr>
        <p:spPr>
          <a:xfrm>
            <a:off x="868680" y="57332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27" name="Text 24"/>
          <p:cNvSpPr/>
          <p:nvPr/>
        </p:nvSpPr>
        <p:spPr>
          <a:xfrm>
            <a:off x="1078992" y="5724144"/>
            <a:ext cx="6373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Nice-to-have depende de capacidade residual</a:t>
            </a:r>
            <a:endParaRPr lang="en-US" sz="740" dirty="0"/>
          </a:p>
        </p:txBody>
      </p:sp>
      <p:sp>
        <p:nvSpPr>
          <p:cNvPr id="28" name="Text 25"/>
          <p:cNvSpPr/>
          <p:nvPr/>
        </p:nvSpPr>
        <p:spPr>
          <a:xfrm>
            <a:off x="868680" y="602589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29" name="Text 26"/>
          <p:cNvSpPr/>
          <p:nvPr/>
        </p:nvSpPr>
        <p:spPr>
          <a:xfrm>
            <a:off x="1078992" y="6016752"/>
            <a:ext cx="6373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lot deve ser reavaliado em Fase 2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— Marcos — Atingidos &amp; Próximos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estivemos e para onde vamos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Committee Update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Atingidos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17373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11" name="Text 8"/>
          <p:cNvSpPr/>
          <p:nvPr/>
        </p:nvSpPr>
        <p:spPr>
          <a:xfrm>
            <a:off x="1078992" y="1728216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Analysis validada (todos os workstreams)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868680" y="20848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1078992" y="2075688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Vendas / CRM em produção interna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868680" y="243230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1078992" y="2423160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Compras configurado e em validação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868680" y="27797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17" name="Text 14"/>
          <p:cNvSpPr/>
          <p:nvPr/>
        </p:nvSpPr>
        <p:spPr>
          <a:xfrm>
            <a:off x="1078992" y="277063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Primeira importação de dados de teste OK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868680" y="3127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19" name="Text 16"/>
          <p:cNvSpPr/>
          <p:nvPr/>
        </p:nvSpPr>
        <p:spPr>
          <a:xfrm>
            <a:off x="1078992" y="3118104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Formação inicial dos key-users de Vendas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617220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Próximos (4 semanas)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63640" y="17373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6473952" y="1728216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Concluir Inventário e Financeiro</a:t>
            </a:r>
            <a:endParaRPr lang="en-US" sz="740" dirty="0"/>
          </a:p>
        </p:txBody>
      </p:sp>
      <p:sp>
        <p:nvSpPr>
          <p:cNvPr id="23" name="Text 20"/>
          <p:cNvSpPr/>
          <p:nvPr/>
        </p:nvSpPr>
        <p:spPr>
          <a:xfrm>
            <a:off x="6263640" y="20848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24" name="Text 21"/>
          <p:cNvSpPr/>
          <p:nvPr/>
        </p:nvSpPr>
        <p:spPr>
          <a:xfrm>
            <a:off x="6473952" y="2075688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Importação de dados final (produção)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263640" y="243230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26" name="Text 23"/>
          <p:cNvSpPr/>
          <p:nvPr/>
        </p:nvSpPr>
        <p:spPr>
          <a:xfrm>
            <a:off x="6473952" y="2423160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Testes integrados end-to-end</a:t>
            </a:r>
            <a:endParaRPr lang="en-US" sz="740" dirty="0"/>
          </a:p>
        </p:txBody>
      </p:sp>
      <p:sp>
        <p:nvSpPr>
          <p:cNvPr id="27" name="Text 24"/>
          <p:cNvSpPr/>
          <p:nvPr/>
        </p:nvSpPr>
        <p:spPr>
          <a:xfrm>
            <a:off x="6263640" y="27797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28" name="Text 25"/>
          <p:cNvSpPr/>
          <p:nvPr/>
        </p:nvSpPr>
        <p:spPr>
          <a:xfrm>
            <a:off x="6473952" y="2770632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Formação de end-users</a:t>
            </a:r>
            <a:endParaRPr lang="en-US" sz="740" dirty="0"/>
          </a:p>
        </p:txBody>
      </p:sp>
      <p:sp>
        <p:nvSpPr>
          <p:cNvPr id="29" name="Text 26"/>
          <p:cNvSpPr/>
          <p:nvPr/>
        </p:nvSpPr>
        <p:spPr>
          <a:xfrm>
            <a:off x="6263640" y="3127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740" dirty="0"/>
          </a:p>
        </p:txBody>
      </p:sp>
      <p:sp>
        <p:nvSpPr>
          <p:cNvPr id="30" name="Text 27"/>
          <p:cNvSpPr/>
          <p:nvPr/>
        </p:nvSpPr>
        <p:spPr>
          <a:xfrm>
            <a:off x="6473952" y="3118104"/>
            <a:ext cx="4636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Preparação do Go-Live checklist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5897880" y="1325880"/>
            <a:ext cx="13716" cy="4297680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5897880"/>
            <a:ext cx="101498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5E2E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Mensagem-chave: entramos na fase crítica de dados, testes integrados e formação. A rapidez de decisão do comité passa a ser determinante.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— Riscos &amp; Issues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mitigação proposta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Committee Update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685800" y="1325880"/>
            <a:ext cx="3931920" cy="449418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/ Issue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17720" y="1325880"/>
            <a:ext cx="1463040" cy="449418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080760" y="1325880"/>
            <a:ext cx="5440680" cy="449418"/>
          </a:xfrm>
          <a:prstGeom prst="rect">
            <a:avLst/>
          </a:prstGeom>
          <a:solidFill>
            <a:srgbClr val="0094E9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Mitigação proposta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" y="1775298"/>
            <a:ext cx="3931920" cy="767756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Disponibilidade dos key-users de Financeiro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17720" y="1775298"/>
            <a:ext cx="1463040" cy="767756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080760" y="1775298"/>
            <a:ext cx="5440680" cy="767756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Reagendar sessões; SPoC a confirmar slots fixos semanais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" y="2543053"/>
            <a:ext cx="3931920" cy="767756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Qualidade dos dados de stock inicial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17720" y="2543053"/>
            <a:ext cx="1463040" cy="767756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80760" y="2543053"/>
            <a:ext cx="5440680" cy="767756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Limpeza assistida + validação dupla antes da importação final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5800" y="3310809"/>
            <a:ext cx="3931920" cy="767756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pedidos fora de âmbito (Studio)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17720" y="3310809"/>
            <a:ext cx="1463040" cy="767756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80760" y="3310809"/>
            <a:ext cx="5440680" cy="767756"/>
          </a:xfrm>
          <a:prstGeom prst="rect">
            <a:avLst/>
          </a:prstGeom>
          <a:solidFill>
            <a:srgbClr val="FFFFFF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Enviados para backlog; decisão pedida ao comité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5800" y="4078564"/>
            <a:ext cx="3931920" cy="767756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 de fecho contabilístico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17720" y="4078564"/>
            <a:ext cx="1463040" cy="767756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Baixo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80760" y="4078564"/>
            <a:ext cx="5440680" cy="767756"/>
          </a:xfrm>
          <a:prstGeom prst="rect">
            <a:avLst/>
          </a:prstGeom>
          <a:solidFill>
            <a:srgbClr val="F8FAFC"/>
          </a:solidFill>
          <a:ln w="4445">
            <a:solidFill>
              <a:srgbClr val="D5E2EE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Alinhar go-live com calendário financeiro do cliente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77240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Prioridade de mitigação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" y="5669280"/>
            <a:ext cx="6400800" cy="384048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de stock e disponibilidade de Financeiro devem ser tratados antes de bloquear a data final de Go-Live.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— Decisões Pedidas ao Comité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Precisamos de orientação nestes pontos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38428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5" name="Image 0" descr="/mnt/data/template_ppt_unzip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68" y="292608"/>
            <a:ext cx="301752" cy="301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6492240"/>
            <a:ext cx="11292840" cy="10973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83680"/>
            <a:ext cx="23774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Committee Update | 2026</a:t>
            </a:r>
            <a:endParaRPr lang="en-US" sz="490" dirty="0"/>
          </a:p>
        </p:txBody>
      </p:sp>
      <p:sp>
        <p:nvSpPr>
          <p:cNvPr id="8" name="Text 5"/>
          <p:cNvSpPr/>
          <p:nvPr/>
        </p:nvSpPr>
        <p:spPr>
          <a:xfrm>
            <a:off x="1129284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009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777240" y="1463040"/>
            <a:ext cx="475488" cy="47548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08760" y="1444752"/>
            <a:ext cx="4480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fora de âmbito (Studio)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08760" y="1828800"/>
            <a:ext cx="8138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agora (impacto no prazo) ou diferir para Fase 2?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1508760" y="2322576"/>
            <a:ext cx="964692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788920"/>
            <a:ext cx="475488" cy="47548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2770632"/>
            <a:ext cx="4480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Data-alvo de Go-Live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508760" y="3154680"/>
            <a:ext cx="8138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janela alinhada com o fecho contabilístico.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1508760" y="3648456"/>
            <a:ext cx="964692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114800"/>
            <a:ext cx="475488" cy="475488"/>
          </a:xfrm>
          <a:prstGeom prst="rect">
            <a:avLst/>
          </a:prstGeom>
          <a:solidFill>
            <a:srgbClr val="0094E9"/>
          </a:solidFill>
          <a:ln w="12700">
            <a:solidFill>
              <a:srgbClr val="0094E9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08760" y="4096512"/>
            <a:ext cx="4480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Esforço de limpeza de dados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508760" y="4480560"/>
            <a:ext cx="8138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Alocar recurso interno do cliente para os dados de stock?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1508760" y="4974336"/>
            <a:ext cx="9646920" cy="9144"/>
          </a:xfrm>
          <a:prstGeom prst="rect">
            <a:avLst/>
          </a:prstGeom>
          <a:solidFill>
            <a:srgbClr val="D5E2EE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5806440"/>
            <a:ext cx="987552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decisão nestes pontos, o plano mantém risco amarelo.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ppt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"/>
            <a:ext cx="2697480" cy="841248"/>
          </a:xfrm>
          <a:prstGeom prst="rect">
            <a:avLst/>
          </a:prstGeom>
        </p:spPr>
      </p:pic>
      <p:pic>
        <p:nvPicPr>
          <p:cNvPr id="3" name="Image 1" descr="/mnt/data/template_ppt_unzip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411480"/>
            <a:ext cx="384048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8680" y="1965960"/>
            <a:ext cx="6583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94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Próxima reunião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868680" y="2679192"/>
            <a:ext cx="1600200" cy="50292"/>
          </a:xfrm>
          <a:prstGeom prst="rect">
            <a:avLst/>
          </a:prstGeom>
          <a:solidFill>
            <a:srgbClr val="0094E9"/>
          </a:solidFill>
          <a:ln w="508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96112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51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Steering Committee mensal · agenda enviada com 48h de antecedência.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96112" y="3611880"/>
            <a:ext cx="73152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acima são bloqueantes para o plano.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96112" y="5349240"/>
            <a:ext cx="71323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Contacto: _______________________  ·  Email: _______________________</a:t>
            </a:r>
            <a:endParaRPr lang="en-US" sz="780" dirty="0"/>
          </a:p>
        </p:txBody>
      </p:sp>
      <p:sp>
        <p:nvSpPr>
          <p:cNvPr id="9" name="Text 5"/>
          <p:cNvSpPr/>
          <p:nvPr/>
        </p:nvSpPr>
        <p:spPr>
          <a:xfrm>
            <a:off x="777240" y="6053328"/>
            <a:ext cx="4572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 Global · Global technology. Local insights.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D2B"/>
          </a:solidFill>
          <a:ln w="5080">
            <a:solidFill>
              <a:srgbClr val="151D2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Parametro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Steering Committee</dc:title>
  <dc:subject>Odoo Steering Committee Update</dc:subject>
  <dc:creator>Parametro Global</dc:creator>
  <cp:lastModifiedBy>Parametro Global</cp:lastModifiedBy>
  <cp:revision>1</cp:revision>
  <dcterms:created xsi:type="dcterms:W3CDTF">2026-06-02T17:23:19Z</dcterms:created>
  <dcterms:modified xsi:type="dcterms:W3CDTF">2026-06-02T17:23:19Z</dcterms:modified>
</cp:coreProperties>
</file>